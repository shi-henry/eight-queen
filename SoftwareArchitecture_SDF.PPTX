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28"/>
  </p:notesMasterIdLst>
  <p:handoutMasterIdLst>
    <p:handoutMasterId r:id="rId29"/>
  </p:handoutMasterIdLst>
  <p:sldIdLst>
    <p:sldId id="523" r:id="rId2"/>
    <p:sldId id="540" r:id="rId3"/>
    <p:sldId id="541" r:id="rId4"/>
    <p:sldId id="524" r:id="rId5"/>
    <p:sldId id="525" r:id="rId6"/>
    <p:sldId id="526" r:id="rId7"/>
    <p:sldId id="527" r:id="rId8"/>
    <p:sldId id="548" r:id="rId9"/>
    <p:sldId id="528" r:id="rId10"/>
    <p:sldId id="529" r:id="rId11"/>
    <p:sldId id="547" r:id="rId12"/>
    <p:sldId id="530" r:id="rId13"/>
    <p:sldId id="531" r:id="rId14"/>
    <p:sldId id="544" r:id="rId15"/>
    <p:sldId id="546" r:id="rId16"/>
    <p:sldId id="532" r:id="rId17"/>
    <p:sldId id="533" r:id="rId18"/>
    <p:sldId id="543" r:id="rId19"/>
    <p:sldId id="534" r:id="rId20"/>
    <p:sldId id="535" r:id="rId21"/>
    <p:sldId id="542" r:id="rId22"/>
    <p:sldId id="536" r:id="rId23"/>
    <p:sldId id="537" r:id="rId24"/>
    <p:sldId id="538" r:id="rId25"/>
    <p:sldId id="539" r:id="rId26"/>
    <p:sldId id="545" r:id="rId27"/>
  </p:sldIdLst>
  <p:sldSz cx="9144000" cy="5148263"/>
  <p:notesSz cx="6807200" cy="9939338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362971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725942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08891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45188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1814855" algn="l" defTabSz="725942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177826" algn="l" defTabSz="725942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2540798" algn="l" defTabSz="725942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2903769" algn="l" defTabSz="725942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2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B050"/>
    <a:srgbClr val="00FF00"/>
    <a:srgbClr val="CC9900"/>
    <a:srgbClr val="FFFF00"/>
    <a:srgbClr val="0067B2"/>
    <a:srgbClr val="99CCFF"/>
    <a:srgbClr val="CCFFFF"/>
    <a:srgbClr val="0069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35" autoAdjust="0"/>
    <p:restoredTop sz="96646" autoAdjust="0"/>
  </p:normalViewPr>
  <p:slideViewPr>
    <p:cSldViewPr>
      <p:cViewPr varScale="1">
        <p:scale>
          <a:sx n="90" d="100"/>
          <a:sy n="90" d="100"/>
        </p:scale>
        <p:origin x="90" y="2940"/>
      </p:cViewPr>
      <p:guideLst>
        <p:guide orient="horz" pos="3242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283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9787" cy="498693"/>
          </a:xfrm>
          <a:prstGeom prst="rect">
            <a:avLst/>
          </a:prstGeom>
        </p:spPr>
        <p:txBody>
          <a:bodyPr vert="horz" lIns="91419" tIns="45709" rIns="91419" bIns="45709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9" y="2"/>
            <a:ext cx="2949787" cy="498693"/>
          </a:xfrm>
          <a:prstGeom prst="rect">
            <a:avLst/>
          </a:prstGeom>
        </p:spPr>
        <p:txBody>
          <a:bodyPr vert="horz" lIns="91419" tIns="45709" rIns="91419" bIns="45709" rtlCol="0"/>
          <a:lstStyle>
            <a:lvl1pPr algn="r">
              <a:defRPr sz="1200"/>
            </a:lvl1pPr>
          </a:lstStyle>
          <a:p>
            <a:fld id="{440FE09B-C43A-486A-9629-A41793F2C2DC}" type="datetimeFigureOut">
              <a:rPr lang="zh-CN" altLang="en-US" smtClean="0"/>
              <a:pPr/>
              <a:t>2017/9/28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440649"/>
            <a:ext cx="2949787" cy="498692"/>
          </a:xfrm>
          <a:prstGeom prst="rect">
            <a:avLst/>
          </a:prstGeom>
        </p:spPr>
        <p:txBody>
          <a:bodyPr vert="horz" lIns="91419" tIns="45709" rIns="91419" bIns="45709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9" y="9440649"/>
            <a:ext cx="2949787" cy="498692"/>
          </a:xfrm>
          <a:prstGeom prst="rect">
            <a:avLst/>
          </a:prstGeom>
        </p:spPr>
        <p:txBody>
          <a:bodyPr vert="horz" lIns="91419" tIns="45709" rIns="91419" bIns="45709" rtlCol="0" anchor="b"/>
          <a:lstStyle>
            <a:lvl1pPr algn="r">
              <a:defRPr sz="1200"/>
            </a:lvl1pPr>
          </a:lstStyle>
          <a:p>
            <a:fld id="{28AF251D-A070-40DC-946F-DE1850B703F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0119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9787" cy="496966"/>
          </a:xfrm>
          <a:prstGeom prst="rect">
            <a:avLst/>
          </a:prstGeom>
        </p:spPr>
        <p:txBody>
          <a:bodyPr vert="horz" lIns="91419" tIns="45709" rIns="91419" bIns="45709" rtlCol="0"/>
          <a:lstStyle>
            <a:lvl1pPr algn="l" eaLnBrk="1" hangingPunct="1"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9" y="2"/>
            <a:ext cx="2949787" cy="496966"/>
          </a:xfrm>
          <a:prstGeom prst="rect">
            <a:avLst/>
          </a:prstGeom>
        </p:spPr>
        <p:txBody>
          <a:bodyPr vert="horz" lIns="91419" tIns="45709" rIns="91419" bIns="45709" rtlCol="0"/>
          <a:lstStyle>
            <a:lvl1pPr algn="r" eaLnBrk="1" hangingPunct="1"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D8E5757C-C670-4DBC-9EEA-872586AF60B3}" type="datetimeFigureOut">
              <a:rPr lang="zh-CN" altLang="en-US"/>
              <a:pPr>
                <a:defRPr/>
              </a:pPr>
              <a:t>2017/9/28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6125"/>
            <a:ext cx="661987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9" tIns="45709" rIns="91419" bIns="4570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0" y="4721188"/>
            <a:ext cx="5445760" cy="4472701"/>
          </a:xfrm>
          <a:prstGeom prst="rect">
            <a:avLst/>
          </a:prstGeom>
        </p:spPr>
        <p:txBody>
          <a:bodyPr vert="horz" wrap="square" lIns="91419" tIns="45709" rIns="91419" bIns="45709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7" cy="496966"/>
          </a:xfrm>
          <a:prstGeom prst="rect">
            <a:avLst/>
          </a:prstGeom>
        </p:spPr>
        <p:txBody>
          <a:bodyPr vert="horz" lIns="91419" tIns="45709" rIns="91419" bIns="45709" rtlCol="0" anchor="b"/>
          <a:lstStyle>
            <a:lvl1pPr algn="l" eaLnBrk="1" hangingPunct="1"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7" cy="496966"/>
          </a:xfrm>
          <a:prstGeom prst="rect">
            <a:avLst/>
          </a:prstGeom>
        </p:spPr>
        <p:txBody>
          <a:bodyPr vert="horz" wrap="square" lIns="91419" tIns="45709" rIns="91419" bIns="4570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3330A43-4550-4BD1-A82A-20C0F2EE07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6548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953" kern="1200">
        <a:solidFill>
          <a:schemeClr val="tx1"/>
        </a:solidFill>
        <a:latin typeface="+mn-lt"/>
        <a:ea typeface="+mn-ea"/>
        <a:cs typeface="+mn-cs"/>
      </a:defRPr>
    </a:lvl1pPr>
    <a:lvl2pPr marL="362971" algn="l" rtl="0" eaLnBrk="0" fontAlgn="base" hangingPunct="0">
      <a:spcBef>
        <a:spcPct val="30000"/>
      </a:spcBef>
      <a:spcAft>
        <a:spcPct val="0"/>
      </a:spcAft>
      <a:defRPr sz="953" kern="1200">
        <a:solidFill>
          <a:schemeClr val="tx1"/>
        </a:solidFill>
        <a:latin typeface="+mn-lt"/>
        <a:ea typeface="+mn-ea"/>
        <a:cs typeface="+mn-cs"/>
      </a:defRPr>
    </a:lvl2pPr>
    <a:lvl3pPr marL="725942" algn="l" rtl="0" eaLnBrk="0" fontAlgn="base" hangingPunct="0">
      <a:spcBef>
        <a:spcPct val="30000"/>
      </a:spcBef>
      <a:spcAft>
        <a:spcPct val="0"/>
      </a:spcAft>
      <a:defRPr sz="953" kern="1200">
        <a:solidFill>
          <a:schemeClr val="tx1"/>
        </a:solidFill>
        <a:latin typeface="+mn-lt"/>
        <a:ea typeface="+mn-ea"/>
        <a:cs typeface="+mn-cs"/>
      </a:defRPr>
    </a:lvl3pPr>
    <a:lvl4pPr marL="1088913" algn="l" rtl="0" eaLnBrk="0" fontAlgn="base" hangingPunct="0">
      <a:spcBef>
        <a:spcPct val="30000"/>
      </a:spcBef>
      <a:spcAft>
        <a:spcPct val="0"/>
      </a:spcAft>
      <a:defRPr sz="953" kern="1200">
        <a:solidFill>
          <a:schemeClr val="tx1"/>
        </a:solidFill>
        <a:latin typeface="+mn-lt"/>
        <a:ea typeface="+mn-ea"/>
        <a:cs typeface="+mn-cs"/>
      </a:defRPr>
    </a:lvl4pPr>
    <a:lvl5pPr marL="1451884" algn="l" rtl="0" eaLnBrk="0" fontAlgn="base" hangingPunct="0">
      <a:spcBef>
        <a:spcPct val="30000"/>
      </a:spcBef>
      <a:spcAft>
        <a:spcPct val="0"/>
      </a:spcAft>
      <a:defRPr sz="953" kern="1200">
        <a:solidFill>
          <a:schemeClr val="tx1"/>
        </a:solidFill>
        <a:latin typeface="+mn-lt"/>
        <a:ea typeface="+mn-ea"/>
        <a:cs typeface="+mn-cs"/>
      </a:defRPr>
    </a:lvl5pPr>
    <a:lvl6pPr marL="1814855" algn="l" defTabSz="725942" rtl="0" eaLnBrk="1" latinLnBrk="0" hangingPunct="1">
      <a:defRPr sz="953" kern="1200">
        <a:solidFill>
          <a:schemeClr val="tx1"/>
        </a:solidFill>
        <a:latin typeface="+mn-lt"/>
        <a:ea typeface="+mn-ea"/>
        <a:cs typeface="+mn-cs"/>
      </a:defRPr>
    </a:lvl6pPr>
    <a:lvl7pPr marL="2177826" algn="l" defTabSz="725942" rtl="0" eaLnBrk="1" latinLnBrk="0" hangingPunct="1">
      <a:defRPr sz="953" kern="1200">
        <a:solidFill>
          <a:schemeClr val="tx1"/>
        </a:solidFill>
        <a:latin typeface="+mn-lt"/>
        <a:ea typeface="+mn-ea"/>
        <a:cs typeface="+mn-cs"/>
      </a:defRPr>
    </a:lvl7pPr>
    <a:lvl8pPr marL="2540798" algn="l" defTabSz="725942" rtl="0" eaLnBrk="1" latinLnBrk="0" hangingPunct="1">
      <a:defRPr sz="953" kern="1200">
        <a:solidFill>
          <a:schemeClr val="tx1"/>
        </a:solidFill>
        <a:latin typeface="+mn-lt"/>
        <a:ea typeface="+mn-ea"/>
        <a:cs typeface="+mn-cs"/>
      </a:defRPr>
    </a:lvl8pPr>
    <a:lvl9pPr marL="2903769" algn="l" defTabSz="725942" rtl="0" eaLnBrk="1" latinLnBrk="0" hangingPunct="1">
      <a:defRPr sz="95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442" y="1114959"/>
            <a:ext cx="7773120" cy="1103560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2322" y="2631339"/>
            <a:ext cx="6400800" cy="1315443"/>
          </a:xfrm>
        </p:spPr>
        <p:txBody>
          <a:bodyPr/>
          <a:lstStyle>
            <a:lvl1pPr marL="0" indent="0" algn="ctr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62861" indent="0" algn="ctr">
              <a:buNone/>
              <a:defRPr/>
            </a:lvl2pPr>
            <a:lvl3pPr marL="725723" indent="0" algn="ctr">
              <a:buNone/>
              <a:defRPr/>
            </a:lvl3pPr>
            <a:lvl4pPr marL="1088584" indent="0" algn="ctr">
              <a:buNone/>
              <a:defRPr/>
            </a:lvl4pPr>
            <a:lvl5pPr marL="1451446" indent="0" algn="ctr">
              <a:buNone/>
              <a:defRPr/>
            </a:lvl5pPr>
            <a:lvl6pPr marL="1814308" indent="0" algn="ctr">
              <a:buNone/>
              <a:defRPr/>
            </a:lvl6pPr>
            <a:lvl7pPr marL="2177169" indent="0" algn="ctr">
              <a:buNone/>
              <a:defRPr/>
            </a:lvl7pPr>
            <a:lvl8pPr marL="2540030" indent="0" algn="ctr">
              <a:buNone/>
              <a:defRPr/>
            </a:lvl8pPr>
            <a:lvl9pPr marL="2902892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441" y="4772422"/>
            <a:ext cx="2132640" cy="273683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 sz="952">
                <a:solidFill>
                  <a:srgbClr val="898989"/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 eaLnBrk="1" hangingPunct="1">
              <a:defRPr/>
            </a:pPr>
            <a:fld id="{5388A5A7-FB1F-46D5-9FC7-9E9DA5AEC828}" type="slidenum">
              <a:rPr lang="zh-CN" altLang="en-US"/>
              <a:pPr eaLnBrk="1" hangingPunct="1">
                <a:defRPr/>
              </a:pPr>
              <a:t>‹#›</a:t>
            </a:fld>
            <a:endParaRPr lang="zh-CN" altLang="en-US" sz="1429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921" y="686276"/>
            <a:ext cx="8229601" cy="378185"/>
          </a:xfrm>
        </p:spPr>
        <p:txBody>
          <a:bodyPr/>
          <a:lstStyle>
            <a:lvl1pPr algn="l">
              <a:defRPr sz="254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89650" indent="-226789">
              <a:buFont typeface="Wingdings" panose="05000000000000000000" pitchFamily="2" charset="2"/>
              <a:buChar char="§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07154" indent="-181431">
              <a:buFont typeface="Wingdings" panose="05000000000000000000" pitchFamily="2" charset="2"/>
              <a:buChar char="§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441" y="4772422"/>
            <a:ext cx="2132640" cy="273683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 sz="952">
                <a:solidFill>
                  <a:srgbClr val="898989"/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 eaLnBrk="1" hangingPunct="1">
              <a:defRPr/>
            </a:pPr>
            <a:fld id="{5388A5A7-FB1F-46D5-9FC7-9E9DA5AEC828}" type="slidenum">
              <a:rPr lang="zh-CN" altLang="en-US"/>
              <a:pPr eaLnBrk="1" hangingPunct="1">
                <a:defRPr/>
              </a:pPr>
              <a:t>‹#›</a:t>
            </a:fld>
            <a:endParaRPr lang="zh-CN" altLang="en-US" sz="1429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>
            <a:lumMod val="95000"/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921" y="206839"/>
            <a:ext cx="8229601" cy="857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dirty="0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075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921" y="1200675"/>
            <a:ext cx="8229601" cy="3397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itchFamily="34" charset="0"/>
              </a:rPr>
              <a:t>第五级</a:t>
            </a: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441" y="4772422"/>
            <a:ext cx="2132640" cy="273683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 sz="952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hangingPunct="1">
              <a:defRPr/>
            </a:pPr>
            <a:fld id="{5388A5A7-FB1F-46D5-9FC7-9E9DA5AEC828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 sz="1429" dirty="0">
              <a:solidFill>
                <a:srgbClr val="000000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 bwMode="auto">
          <a:xfrm>
            <a:off x="0" y="0"/>
            <a:ext cx="216000" cy="5148263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algn="ctr" fontAlgn="ctr"/>
            <a:endParaRPr lang="zh-CN" altLang="en-US" sz="1111" b="1" dirty="0">
              <a:latin typeface="微软雅黑" pitchFamily="34" charset="-122"/>
              <a:ea typeface="微软雅黑" pitchFamily="34" charset="-122"/>
              <a:cs typeface="Adobe 楷体 Std R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86" y="35313"/>
            <a:ext cx="1359920" cy="51481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hf hdr="0" dt="0"/>
  <p:txStyles>
    <p:titleStyle>
      <a:lvl1pPr marL="725723" indent="-725723" algn="ctr" rtl="0" eaLnBrk="0" fontAlgn="base" hangingPunct="0">
        <a:spcBef>
          <a:spcPct val="0"/>
        </a:spcBef>
        <a:spcAft>
          <a:spcPct val="0"/>
        </a:spcAft>
        <a:defRPr sz="3492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  <a:sym typeface="Calibri" pitchFamily="34" charset="0"/>
        </a:defRPr>
      </a:lvl1pPr>
      <a:lvl2pPr marL="725723" indent="-725723" algn="ctr" rtl="0" eaLnBrk="0" fontAlgn="base" hangingPunct="0">
        <a:spcBef>
          <a:spcPct val="0"/>
        </a:spcBef>
        <a:spcAft>
          <a:spcPct val="0"/>
        </a:spcAft>
        <a:defRPr sz="3492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2pPr>
      <a:lvl3pPr marL="725723" indent="-725723" algn="ctr" rtl="0" eaLnBrk="0" fontAlgn="base" hangingPunct="0">
        <a:spcBef>
          <a:spcPct val="0"/>
        </a:spcBef>
        <a:spcAft>
          <a:spcPct val="0"/>
        </a:spcAft>
        <a:defRPr sz="3492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3pPr>
      <a:lvl4pPr marL="725723" indent="-725723" algn="ctr" rtl="0" eaLnBrk="0" fontAlgn="base" hangingPunct="0">
        <a:spcBef>
          <a:spcPct val="0"/>
        </a:spcBef>
        <a:spcAft>
          <a:spcPct val="0"/>
        </a:spcAft>
        <a:defRPr sz="3492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4pPr>
      <a:lvl5pPr marL="725723" indent="-725723" algn="ctr" rtl="0" eaLnBrk="0" fontAlgn="base" hangingPunct="0">
        <a:spcBef>
          <a:spcPct val="0"/>
        </a:spcBef>
        <a:spcAft>
          <a:spcPct val="0"/>
        </a:spcAft>
        <a:defRPr sz="3492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5pPr>
      <a:lvl6pPr marL="1088584" indent="-725723" algn="ctr" rtl="0" fontAlgn="base">
        <a:spcBef>
          <a:spcPct val="0"/>
        </a:spcBef>
        <a:spcAft>
          <a:spcPct val="0"/>
        </a:spcAft>
        <a:defRPr sz="3492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451446" indent="-725723" algn="ctr" rtl="0" fontAlgn="base">
        <a:spcBef>
          <a:spcPct val="0"/>
        </a:spcBef>
        <a:spcAft>
          <a:spcPct val="0"/>
        </a:spcAft>
        <a:defRPr sz="3492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1814308" indent="-725723" algn="ctr" rtl="0" fontAlgn="base">
        <a:spcBef>
          <a:spcPct val="0"/>
        </a:spcBef>
        <a:spcAft>
          <a:spcPct val="0"/>
        </a:spcAft>
        <a:defRPr sz="3492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177169" indent="-725723" algn="ctr" rtl="0" fontAlgn="base">
        <a:spcBef>
          <a:spcPct val="0"/>
        </a:spcBef>
        <a:spcAft>
          <a:spcPct val="0"/>
        </a:spcAft>
        <a:defRPr sz="3492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272146" indent="-27214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54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itchFamily="34" charset="0"/>
        </a:defRPr>
      </a:lvl1pPr>
      <a:lvl2pPr marL="589650" indent="-2267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222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itchFamily="34" charset="0"/>
        </a:defRPr>
      </a:lvl2pPr>
      <a:lvl3pPr marL="907154" indent="-18143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905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itchFamily="34" charset="0"/>
        </a:defRPr>
      </a:lvl3pPr>
      <a:lvl4pPr marL="1270015" indent="-18143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87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itchFamily="34" charset="0"/>
        </a:defRPr>
      </a:lvl4pPr>
      <a:lvl5pPr marL="1632877" indent="-18143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87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itchFamily="34" charset="0"/>
        </a:defRPr>
      </a:lvl5pPr>
      <a:lvl6pPr marL="1995738" indent="-181431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87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358599" indent="-181431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87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2721461" indent="-181431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87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084322" indent="-181431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87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725723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1pPr>
      <a:lvl2pPr marL="362861" algn="l" defTabSz="725723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2pPr>
      <a:lvl3pPr marL="725723" algn="l" defTabSz="725723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3pPr>
      <a:lvl4pPr marL="1088584" algn="l" defTabSz="725723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4pPr>
      <a:lvl5pPr marL="1451446" algn="l" defTabSz="725723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5pPr>
      <a:lvl6pPr marL="1814308" algn="l" defTabSz="725723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6pPr>
      <a:lvl7pPr marL="2177169" algn="l" defTabSz="725723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7pPr>
      <a:lvl8pPr marL="2540030" algn="l" defTabSz="725723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8pPr>
      <a:lvl9pPr marL="2902892" algn="l" defTabSz="725723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60.png"/><Relationship Id="rId7" Type="http://schemas.openxmlformats.org/officeDocument/2006/relationships/image" Target="../media/image10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70.png"/><Relationship Id="rId9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1403647" y="557907"/>
            <a:ext cx="5705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Software Architecture of</a:t>
            </a:r>
            <a:r>
              <a:rPr lang="zh-CN" altLang="en-US" sz="2400" dirty="0"/>
              <a:t> </a:t>
            </a:r>
            <a:r>
              <a:rPr lang="en-US" altLang="zh-CN" sz="2400" dirty="0"/>
              <a:t>sensor</a:t>
            </a:r>
            <a:r>
              <a:rPr lang="zh-CN" altLang="en-US" sz="2400" dirty="0"/>
              <a:t> </a:t>
            </a:r>
            <a:r>
              <a:rPr lang="en-US" altLang="zh-CN" sz="2400" dirty="0"/>
              <a:t>fusion</a:t>
            </a:r>
            <a:endParaRPr lang="zh-CN" altLang="en-US" sz="2400" dirty="0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2F7EA759-2B1B-43C4-9CC8-EAB505254AFB}"/>
              </a:ext>
            </a:extLst>
          </p:cNvPr>
          <p:cNvSpPr/>
          <p:nvPr/>
        </p:nvSpPr>
        <p:spPr bwMode="auto">
          <a:xfrm>
            <a:off x="6692462" y="283258"/>
            <a:ext cx="477595" cy="209786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4C516C5-A829-47C9-B814-4D041482DFC6}"/>
              </a:ext>
            </a:extLst>
          </p:cNvPr>
          <p:cNvSpPr txBox="1"/>
          <p:nvPr/>
        </p:nvSpPr>
        <p:spPr>
          <a:xfrm>
            <a:off x="7224985" y="251517"/>
            <a:ext cx="849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22HZ</a:t>
            </a:r>
            <a:endParaRPr lang="zh-CN" altLang="en-US" sz="11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6DE47BE-DDA8-4C8E-9B97-EE3621FD48E7}"/>
              </a:ext>
            </a:extLst>
          </p:cNvPr>
          <p:cNvSpPr/>
          <p:nvPr/>
        </p:nvSpPr>
        <p:spPr bwMode="auto">
          <a:xfrm>
            <a:off x="928064" y="2214091"/>
            <a:ext cx="676096" cy="2019218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Senor</a:t>
            </a:r>
          </a:p>
          <a:p>
            <a:pPr algn="ctr" eaLnBrk="1" hangingPunct="1"/>
            <a:r>
              <a:rPr lang="en-US" altLang="zh-CN" sz="1100" dirty="0"/>
              <a:t>data</a:t>
            </a:r>
          </a:p>
          <a:p>
            <a:pPr algn="ctr" eaLnBrk="1" hangingPunct="1"/>
            <a:r>
              <a:rPr lang="en-US" altLang="zh-CN" sz="1100" dirty="0"/>
              <a:t>adaptor</a:t>
            </a:r>
            <a:endParaRPr lang="zh-CN" altLang="en-US" sz="700" dirty="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F8AE557-0264-485B-8227-40C9D2F147B3}"/>
              </a:ext>
            </a:extLst>
          </p:cNvPr>
          <p:cNvSpPr/>
          <p:nvPr/>
        </p:nvSpPr>
        <p:spPr bwMode="auto">
          <a:xfrm>
            <a:off x="2008184" y="1351748"/>
            <a:ext cx="1152128" cy="2883314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Measurement</a:t>
            </a:r>
          </a:p>
          <a:p>
            <a:pPr algn="ctr" eaLnBrk="1" hangingPunct="1"/>
            <a:r>
              <a:rPr lang="en-US" altLang="zh-CN" sz="1100" dirty="0"/>
              <a:t>time stamp</a:t>
            </a:r>
          </a:p>
          <a:p>
            <a:pPr algn="ctr" eaLnBrk="1" hangingPunct="1"/>
            <a:r>
              <a:rPr lang="en-US" altLang="zh-CN" sz="1100" dirty="0"/>
              <a:t>management</a:t>
            </a:r>
            <a:endParaRPr lang="zh-CN" altLang="en-US" sz="700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0EBECE9-7BA4-4CBB-B7C7-CB4BC529F496}"/>
              </a:ext>
            </a:extLst>
          </p:cNvPr>
          <p:cNvSpPr/>
          <p:nvPr/>
        </p:nvSpPr>
        <p:spPr bwMode="auto">
          <a:xfrm>
            <a:off x="3531363" y="3078187"/>
            <a:ext cx="997101" cy="115512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Association</a:t>
            </a:r>
            <a:endParaRPr lang="zh-CN" altLang="en-US" sz="70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E7DFC8B-F62C-49A9-B766-DF638EE2DE8B}"/>
              </a:ext>
            </a:extLst>
          </p:cNvPr>
          <p:cNvSpPr/>
          <p:nvPr/>
        </p:nvSpPr>
        <p:spPr bwMode="auto">
          <a:xfrm>
            <a:off x="4901107" y="3078187"/>
            <a:ext cx="991228" cy="115512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State update</a:t>
            </a:r>
            <a:endParaRPr lang="zh-CN" altLang="en-US" sz="70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B8665D8-E1B4-4311-87C9-EB6E7B7FECDA}"/>
              </a:ext>
            </a:extLst>
          </p:cNvPr>
          <p:cNvSpPr/>
          <p:nvPr/>
        </p:nvSpPr>
        <p:spPr bwMode="auto">
          <a:xfrm>
            <a:off x="6266704" y="1349995"/>
            <a:ext cx="740417" cy="2883314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Book</a:t>
            </a:r>
          </a:p>
          <a:p>
            <a:pPr algn="ctr" eaLnBrk="1" hangingPunct="1"/>
            <a:r>
              <a:rPr lang="en-US" altLang="zh-CN" sz="1100" dirty="0"/>
              <a:t>Keeping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AA48DE7-66AC-4A9D-A404-9AA6B3332871}"/>
              </a:ext>
            </a:extLst>
          </p:cNvPr>
          <p:cNvSpPr/>
          <p:nvPr/>
        </p:nvSpPr>
        <p:spPr bwMode="auto">
          <a:xfrm>
            <a:off x="3531363" y="1349995"/>
            <a:ext cx="2360972" cy="118813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200" dirty="0"/>
              <a:t>Track management</a:t>
            </a:r>
          </a:p>
          <a:p>
            <a:pPr algn="ctr" eaLnBrk="1" hangingPunct="1"/>
            <a:r>
              <a:rPr lang="en-US" altLang="zh-CN" sz="1200" dirty="0"/>
              <a:t>(Track </a:t>
            </a:r>
            <a:r>
              <a:rPr lang="en-US" altLang="zh-CN" sz="1200" dirty="0" err="1"/>
              <a:t>init.</a:t>
            </a:r>
            <a:r>
              <a:rPr lang="en-US" altLang="zh-CN" sz="1200" dirty="0"/>
              <a:t> included)</a:t>
            </a:r>
            <a:endParaRPr lang="zh-CN" altLang="en-US" sz="800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0FBE1FD-A4F7-4C7F-B800-BE4F5FE2FED4}"/>
              </a:ext>
            </a:extLst>
          </p:cNvPr>
          <p:cNvSpPr/>
          <p:nvPr/>
        </p:nvSpPr>
        <p:spPr bwMode="auto">
          <a:xfrm>
            <a:off x="7398736" y="3006179"/>
            <a:ext cx="936104" cy="1227130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Barrier</a:t>
            </a:r>
          </a:p>
          <a:p>
            <a:pPr algn="ctr" eaLnBrk="1" hangingPunct="1"/>
            <a:r>
              <a:rPr lang="en-US" altLang="zh-CN" sz="1100" dirty="0"/>
              <a:t>estimation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9D834F6-160E-435E-96BA-08B3F5D077AB}"/>
              </a:ext>
            </a:extLst>
          </p:cNvPr>
          <p:cNvSpPr/>
          <p:nvPr/>
        </p:nvSpPr>
        <p:spPr bwMode="auto">
          <a:xfrm>
            <a:off x="7398736" y="1349995"/>
            <a:ext cx="936104" cy="1227130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Confidence assessment</a:t>
            </a: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BA71D232-E97A-44F8-8EFA-8BEDA9AB0C55}"/>
              </a:ext>
            </a:extLst>
          </p:cNvPr>
          <p:cNvCxnSpPr>
            <a:cxnSpLocks/>
          </p:cNvCxnSpPr>
          <p:nvPr/>
        </p:nvCxnSpPr>
        <p:spPr bwMode="auto">
          <a:xfrm>
            <a:off x="395536" y="2718147"/>
            <a:ext cx="532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1B4DEAAE-966A-4E43-AC8E-48197F924AB4}"/>
              </a:ext>
            </a:extLst>
          </p:cNvPr>
          <p:cNvCxnSpPr>
            <a:cxnSpLocks/>
          </p:cNvCxnSpPr>
          <p:nvPr/>
        </p:nvCxnSpPr>
        <p:spPr bwMode="auto">
          <a:xfrm>
            <a:off x="395536" y="3654251"/>
            <a:ext cx="532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5F179419-85C2-4966-9EBF-68BC62BDE9DF}"/>
              </a:ext>
            </a:extLst>
          </p:cNvPr>
          <p:cNvCxnSpPr>
            <a:cxnSpLocks/>
          </p:cNvCxnSpPr>
          <p:nvPr/>
        </p:nvCxnSpPr>
        <p:spPr bwMode="auto">
          <a:xfrm>
            <a:off x="467544" y="1805491"/>
            <a:ext cx="1530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C5D43F42-5E1D-412F-A1D0-34238C102563}"/>
              </a:ext>
            </a:extLst>
          </p:cNvPr>
          <p:cNvCxnSpPr/>
          <p:nvPr/>
        </p:nvCxnSpPr>
        <p:spPr bwMode="auto">
          <a:xfrm>
            <a:off x="1614656" y="3150195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7E57DA10-9C1E-4A37-B09A-C47E56C25149}"/>
              </a:ext>
            </a:extLst>
          </p:cNvPr>
          <p:cNvCxnSpPr>
            <a:cxnSpLocks/>
          </p:cNvCxnSpPr>
          <p:nvPr/>
        </p:nvCxnSpPr>
        <p:spPr bwMode="auto">
          <a:xfrm>
            <a:off x="3160312" y="1926059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D44F9E1E-8DB2-4B9D-8DBB-7DE92E08A879}"/>
              </a:ext>
            </a:extLst>
          </p:cNvPr>
          <p:cNvCxnSpPr>
            <a:cxnSpLocks/>
          </p:cNvCxnSpPr>
          <p:nvPr/>
        </p:nvCxnSpPr>
        <p:spPr bwMode="auto">
          <a:xfrm>
            <a:off x="3160312" y="3642653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40B6FD4F-2C77-4671-BA94-498B80275E7D}"/>
              </a:ext>
            </a:extLst>
          </p:cNvPr>
          <p:cNvCxnSpPr>
            <a:cxnSpLocks/>
          </p:cNvCxnSpPr>
          <p:nvPr/>
        </p:nvCxnSpPr>
        <p:spPr bwMode="auto">
          <a:xfrm>
            <a:off x="4530056" y="3654251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F4A517FF-8F7D-40CB-A9B8-8058FACDDC8C}"/>
              </a:ext>
            </a:extLst>
          </p:cNvPr>
          <p:cNvCxnSpPr>
            <a:cxnSpLocks/>
          </p:cNvCxnSpPr>
          <p:nvPr/>
        </p:nvCxnSpPr>
        <p:spPr bwMode="auto">
          <a:xfrm>
            <a:off x="5892335" y="1937908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36076E4C-4FCD-42DF-97E8-3356ACBC1278}"/>
              </a:ext>
            </a:extLst>
          </p:cNvPr>
          <p:cNvCxnSpPr>
            <a:cxnSpLocks/>
          </p:cNvCxnSpPr>
          <p:nvPr/>
        </p:nvCxnSpPr>
        <p:spPr bwMode="auto">
          <a:xfrm>
            <a:off x="7016667" y="1942993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0BE59866-F58B-4FD3-9FCC-EB5A43D21E1E}"/>
              </a:ext>
            </a:extLst>
          </p:cNvPr>
          <p:cNvCxnSpPr>
            <a:cxnSpLocks/>
          </p:cNvCxnSpPr>
          <p:nvPr/>
        </p:nvCxnSpPr>
        <p:spPr bwMode="auto">
          <a:xfrm>
            <a:off x="7021691" y="3677701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33F4EE9A-E4DB-4649-A798-E4FD15F3EB14}"/>
              </a:ext>
            </a:extLst>
          </p:cNvPr>
          <p:cNvCxnSpPr>
            <a:cxnSpLocks/>
            <a:stCxn id="78" idx="0"/>
          </p:cNvCxnSpPr>
          <p:nvPr/>
        </p:nvCxnSpPr>
        <p:spPr bwMode="auto">
          <a:xfrm flipV="1">
            <a:off x="5396721" y="2538127"/>
            <a:ext cx="0" cy="540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5E891B06-BF06-4460-A043-AF99B8124ABB}"/>
              </a:ext>
            </a:extLst>
          </p:cNvPr>
          <p:cNvCxnSpPr>
            <a:cxnSpLocks/>
            <a:endCxn id="76" idx="0"/>
          </p:cNvCxnSpPr>
          <p:nvPr/>
        </p:nvCxnSpPr>
        <p:spPr bwMode="auto">
          <a:xfrm>
            <a:off x="4029914" y="2538127"/>
            <a:ext cx="0" cy="540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BC64E6FB-3957-4C6D-9634-522DED344DA9}"/>
              </a:ext>
            </a:extLst>
          </p:cNvPr>
          <p:cNvCxnSpPr/>
          <p:nvPr/>
        </p:nvCxnSpPr>
        <p:spPr bwMode="auto">
          <a:xfrm>
            <a:off x="8334840" y="1963560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2FD92314-C8BD-41DB-A88D-F350123CF99C}"/>
              </a:ext>
            </a:extLst>
          </p:cNvPr>
          <p:cNvCxnSpPr/>
          <p:nvPr/>
        </p:nvCxnSpPr>
        <p:spPr bwMode="auto">
          <a:xfrm>
            <a:off x="8339864" y="3677701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68B6CBB-1438-4557-B881-611449D09EBC}"/>
              </a:ext>
            </a:extLst>
          </p:cNvPr>
          <p:cNvSpPr txBox="1"/>
          <p:nvPr/>
        </p:nvSpPr>
        <p:spPr>
          <a:xfrm>
            <a:off x="315101" y="1543881"/>
            <a:ext cx="944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Ego Motion</a:t>
            </a:r>
            <a:endParaRPr lang="zh-CN" altLang="en-US" sz="11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72A6E25C-7DEE-4A99-926B-C68CA91B2344}"/>
              </a:ext>
            </a:extLst>
          </p:cNvPr>
          <p:cNvSpPr txBox="1"/>
          <p:nvPr/>
        </p:nvSpPr>
        <p:spPr>
          <a:xfrm>
            <a:off x="220690" y="2502703"/>
            <a:ext cx="9445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Vision Detection</a:t>
            </a:r>
            <a:endParaRPr lang="zh-CN" altLang="en-US" sz="11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96F8699-D7CC-4083-BA4B-0F0B385DBB97}"/>
              </a:ext>
            </a:extLst>
          </p:cNvPr>
          <p:cNvSpPr txBox="1"/>
          <p:nvPr/>
        </p:nvSpPr>
        <p:spPr>
          <a:xfrm>
            <a:off x="217955" y="3438227"/>
            <a:ext cx="9445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Radar Detection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860535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1403647" y="600298"/>
            <a:ext cx="6264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Coordinate system &amp; Motion of fusion object</a:t>
            </a:r>
            <a:endParaRPr lang="zh-CN" altLang="en-US" sz="2400" dirty="0"/>
          </a:p>
        </p:txBody>
      </p:sp>
      <p:pic>
        <p:nvPicPr>
          <p:cNvPr id="32" name="Picture 8" descr="blue_car">
            <a:extLst>
              <a:ext uri="{FF2B5EF4-FFF2-40B4-BE49-F238E27FC236}">
                <a16:creationId xmlns:a16="http://schemas.microsoft.com/office/drawing/2014/main" id="{3C83AA2D-A789-4671-8D83-2E7DEA16C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18883" y="1915719"/>
            <a:ext cx="813672" cy="1764222"/>
          </a:xfrm>
          <a:prstGeom prst="rect">
            <a:avLst/>
          </a:prstGeom>
          <a:noFill/>
          <a:ln>
            <a:noFill/>
          </a:ln>
          <a:extLst/>
        </p:spPr>
      </p:pic>
      <p:pic>
        <p:nvPicPr>
          <p:cNvPr id="33" name="Picture 17" descr="blue_car">
            <a:extLst>
              <a:ext uri="{FF2B5EF4-FFF2-40B4-BE49-F238E27FC236}">
                <a16:creationId xmlns:a16="http://schemas.microsoft.com/office/drawing/2014/main" id="{94FB8469-727D-465A-8B7D-4E5E4FD6167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5E8496"/>
              </a:clrFrom>
              <a:clrTo>
                <a:srgbClr val="5E849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629526">
            <a:off x="6411777" y="1165489"/>
            <a:ext cx="813672" cy="1764222"/>
          </a:xfrm>
          <a:prstGeom prst="rect">
            <a:avLst/>
          </a:prstGeom>
          <a:noFill/>
          <a:ln>
            <a:noFill/>
          </a:ln>
          <a:extLst/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6AFB2AD-8F15-4085-AB9C-C22C47EE99BA}"/>
              </a:ext>
            </a:extLst>
          </p:cNvPr>
          <p:cNvCxnSpPr>
            <a:cxnSpLocks/>
          </p:cNvCxnSpPr>
          <p:nvPr/>
        </p:nvCxnSpPr>
        <p:spPr bwMode="auto">
          <a:xfrm>
            <a:off x="611560" y="2822950"/>
            <a:ext cx="273630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FF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636C252-4F7A-4C07-AB61-7DACA35EEB53}"/>
              </a:ext>
            </a:extLst>
          </p:cNvPr>
          <p:cNvCxnSpPr>
            <a:cxnSpLocks/>
          </p:cNvCxnSpPr>
          <p:nvPr/>
        </p:nvCxnSpPr>
        <p:spPr bwMode="auto">
          <a:xfrm flipV="1">
            <a:off x="1475656" y="1958946"/>
            <a:ext cx="0" cy="17614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FF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Arc 32">
            <a:extLst>
              <a:ext uri="{FF2B5EF4-FFF2-40B4-BE49-F238E27FC236}">
                <a16:creationId xmlns:a16="http://schemas.microsoft.com/office/drawing/2014/main" id="{E1C8CC89-7ACB-42EA-8DC0-D6DB284B074A}"/>
              </a:ext>
            </a:extLst>
          </p:cNvPr>
          <p:cNvSpPr/>
          <p:nvPr/>
        </p:nvSpPr>
        <p:spPr>
          <a:xfrm rot="10230493" flipH="1">
            <a:off x="1253553" y="2641412"/>
            <a:ext cx="420708" cy="376944"/>
          </a:xfrm>
          <a:prstGeom prst="arc">
            <a:avLst>
              <a:gd name="adj1" fmla="val 16200000"/>
              <a:gd name="adj2" fmla="val 11191429"/>
            </a:avLst>
          </a:prstGeom>
          <a:ln w="2857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Arrow Connector 29">
            <a:extLst>
              <a:ext uri="{FF2B5EF4-FFF2-40B4-BE49-F238E27FC236}">
                <a16:creationId xmlns:a16="http://schemas.microsoft.com/office/drawing/2014/main" id="{AB1AB79F-C25B-4C6B-847C-DAD242325B02}"/>
              </a:ext>
            </a:extLst>
          </p:cNvPr>
          <p:cNvCxnSpPr>
            <a:cxnSpLocks/>
          </p:cNvCxnSpPr>
          <p:nvPr/>
        </p:nvCxnSpPr>
        <p:spPr>
          <a:xfrm>
            <a:off x="1475655" y="2823551"/>
            <a:ext cx="1152129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C6BBAD1-9CB5-4D34-A883-48B047647D31}"/>
              </a:ext>
            </a:extLst>
          </p:cNvPr>
          <p:cNvSpPr txBox="1"/>
          <p:nvPr/>
        </p:nvSpPr>
        <p:spPr>
          <a:xfrm>
            <a:off x="3194584" y="2868664"/>
            <a:ext cx="16561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X</a:t>
            </a:r>
            <a:endParaRPr lang="zh-CN" altLang="en-US" sz="12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E26864A-50F2-4152-A189-340803DD2FBE}"/>
              </a:ext>
            </a:extLst>
          </p:cNvPr>
          <p:cNvSpPr txBox="1"/>
          <p:nvPr/>
        </p:nvSpPr>
        <p:spPr>
          <a:xfrm>
            <a:off x="1503573" y="1854016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Y</a:t>
            </a:r>
            <a:endParaRPr lang="zh-CN" altLang="en-US" sz="12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ECF2A57-2985-44C2-BB84-87C8D18905CB}"/>
              </a:ext>
            </a:extLst>
          </p:cNvPr>
          <p:cNvSpPr txBox="1"/>
          <p:nvPr/>
        </p:nvSpPr>
        <p:spPr>
          <a:xfrm>
            <a:off x="646783" y="2469018"/>
            <a:ext cx="86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C000"/>
                </a:solidFill>
              </a:rPr>
              <a:t>Yaw Rate</a:t>
            </a:r>
            <a:endParaRPr lang="zh-CN" altLang="en-US" sz="1200" dirty="0">
              <a:solidFill>
                <a:srgbClr val="FFC000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EA91B3D-B65D-45A3-B798-9C1ED9FF8FE8}"/>
              </a:ext>
            </a:extLst>
          </p:cNvPr>
          <p:cNvSpPr txBox="1"/>
          <p:nvPr/>
        </p:nvSpPr>
        <p:spPr>
          <a:xfrm>
            <a:off x="1772447" y="2823409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C000"/>
                </a:solidFill>
              </a:rPr>
              <a:t>Ego Speed</a:t>
            </a:r>
            <a:endParaRPr lang="zh-CN" altLang="en-US" sz="1200" dirty="0">
              <a:solidFill>
                <a:srgbClr val="FFC000"/>
              </a:solidFill>
            </a:endParaRPr>
          </a:p>
        </p:txBody>
      </p:sp>
      <p:sp>
        <p:nvSpPr>
          <p:cNvPr id="51" name="TextBox 16">
            <a:extLst>
              <a:ext uri="{FF2B5EF4-FFF2-40B4-BE49-F238E27FC236}">
                <a16:creationId xmlns:a16="http://schemas.microsoft.com/office/drawing/2014/main" id="{CCDDCB36-0F27-4C5A-A947-C40B7550AB98}"/>
              </a:ext>
            </a:extLst>
          </p:cNvPr>
          <p:cNvSpPr txBox="1"/>
          <p:nvPr/>
        </p:nvSpPr>
        <p:spPr>
          <a:xfrm>
            <a:off x="855575" y="3299454"/>
            <a:ext cx="1810358" cy="233516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>
              <a:lnSpc>
                <a:spcPct val="95000"/>
              </a:lnSpc>
              <a:buClr>
                <a:schemeClr val="accent1"/>
              </a:buClr>
            </a:pPr>
            <a:r>
              <a:rPr lang="en-US" sz="1100" dirty="0">
                <a:solidFill>
                  <a:srgbClr val="C00000"/>
                </a:solidFill>
              </a:rPr>
              <a:t>rear-axle coordinate system</a:t>
            </a:r>
          </a:p>
        </p:txBody>
      </p:sp>
      <p:sp>
        <p:nvSpPr>
          <p:cNvPr id="52" name="TextBox 9">
            <a:extLst>
              <a:ext uri="{FF2B5EF4-FFF2-40B4-BE49-F238E27FC236}">
                <a16:creationId xmlns:a16="http://schemas.microsoft.com/office/drawing/2014/main" id="{892ECDEF-5017-460C-ABAB-233808BA67AE}"/>
              </a:ext>
            </a:extLst>
          </p:cNvPr>
          <p:cNvSpPr txBox="1"/>
          <p:nvPr/>
        </p:nvSpPr>
        <p:spPr>
          <a:xfrm>
            <a:off x="827249" y="3766144"/>
            <a:ext cx="2196939" cy="365091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>
              <a:lnSpc>
                <a:spcPct val="95000"/>
              </a:lnSpc>
              <a:buClr>
                <a:schemeClr val="accent1"/>
              </a:buClr>
            </a:pPr>
            <a:r>
              <a:rPr lang="en-US" sz="2000" dirty="0">
                <a:solidFill>
                  <a:srgbClr val="00B050"/>
                </a:solidFill>
              </a:rPr>
              <a:t>Host (Ego) Vehicle</a:t>
            </a:r>
          </a:p>
        </p:txBody>
      </p:sp>
      <p:sp>
        <p:nvSpPr>
          <p:cNvPr id="53" name="TextBox 9">
            <a:extLst>
              <a:ext uri="{FF2B5EF4-FFF2-40B4-BE49-F238E27FC236}">
                <a16:creationId xmlns:a16="http://schemas.microsoft.com/office/drawing/2014/main" id="{B9FE3583-57CA-4ED3-9BF1-968D220097A4}"/>
              </a:ext>
            </a:extLst>
          </p:cNvPr>
          <p:cNvSpPr txBox="1"/>
          <p:nvPr/>
        </p:nvSpPr>
        <p:spPr>
          <a:xfrm>
            <a:off x="6910641" y="1202452"/>
            <a:ext cx="1515406" cy="204278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>
              <a:lnSpc>
                <a:spcPct val="95000"/>
              </a:lnSpc>
              <a:buClr>
                <a:schemeClr val="accent1"/>
              </a:buClr>
            </a:pPr>
            <a:r>
              <a:rPr lang="en-US" sz="900" dirty="0">
                <a:solidFill>
                  <a:srgbClr val="FF0000"/>
                </a:solidFill>
              </a:rPr>
              <a:t>Object Vehicle(fusion result)</a:t>
            </a:r>
          </a:p>
        </p:txBody>
      </p:sp>
      <p:sp>
        <p:nvSpPr>
          <p:cNvPr id="54" name="Oval 18">
            <a:extLst>
              <a:ext uri="{FF2B5EF4-FFF2-40B4-BE49-F238E27FC236}">
                <a16:creationId xmlns:a16="http://schemas.microsoft.com/office/drawing/2014/main" id="{ABE00B2F-A7ED-46DB-949A-BA5BB1472E82}"/>
              </a:ext>
            </a:extLst>
          </p:cNvPr>
          <p:cNvSpPr/>
          <p:nvPr/>
        </p:nvSpPr>
        <p:spPr>
          <a:xfrm>
            <a:off x="5990557" y="2160503"/>
            <a:ext cx="204719" cy="204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cxnSp>
        <p:nvCxnSpPr>
          <p:cNvPr id="55" name="Straight Connector 35">
            <a:extLst>
              <a:ext uri="{FF2B5EF4-FFF2-40B4-BE49-F238E27FC236}">
                <a16:creationId xmlns:a16="http://schemas.microsoft.com/office/drawing/2014/main" id="{453EE476-5293-46B4-A4F0-D2AF2921C524}"/>
              </a:ext>
            </a:extLst>
          </p:cNvPr>
          <p:cNvCxnSpPr>
            <a:cxnSpLocks/>
          </p:cNvCxnSpPr>
          <p:nvPr/>
        </p:nvCxnSpPr>
        <p:spPr>
          <a:xfrm flipV="1">
            <a:off x="1471299" y="2273621"/>
            <a:ext cx="4519258" cy="553380"/>
          </a:xfrm>
          <a:prstGeom prst="line">
            <a:avLst/>
          </a:prstGeom>
          <a:ln>
            <a:solidFill>
              <a:srgbClr val="00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D20D485-028D-4CF1-AA50-86038E93CFC4}"/>
              </a:ext>
            </a:extLst>
          </p:cNvPr>
          <p:cNvSpPr txBox="1"/>
          <p:nvPr/>
        </p:nvSpPr>
        <p:spPr>
          <a:xfrm>
            <a:off x="5660332" y="2306872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x, y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" name="弧形 1"/>
          <p:cNvSpPr/>
          <p:nvPr/>
        </p:nvSpPr>
        <p:spPr bwMode="auto">
          <a:xfrm>
            <a:off x="6651027" y="2049368"/>
            <a:ext cx="107986" cy="366852"/>
          </a:xfrm>
          <a:prstGeom prst="arc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EA91B3D-B65D-45A3-B798-9C1ED9FF8FE8}"/>
              </a:ext>
            </a:extLst>
          </p:cNvPr>
          <p:cNvSpPr txBox="1"/>
          <p:nvPr/>
        </p:nvSpPr>
        <p:spPr>
          <a:xfrm>
            <a:off x="6828689" y="1958946"/>
            <a:ext cx="13115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rgbClr val="FF0000"/>
                </a:solidFill>
              </a:rPr>
              <a:t>Heading angle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70A89C8-A2F9-4A59-A591-17AEE0278D38}"/>
              </a:ext>
            </a:extLst>
          </p:cNvPr>
          <p:cNvCxnSpPr>
            <a:cxnSpLocks/>
          </p:cNvCxnSpPr>
          <p:nvPr/>
        </p:nvCxnSpPr>
        <p:spPr bwMode="auto">
          <a:xfrm flipV="1">
            <a:off x="6112762" y="2236727"/>
            <a:ext cx="1260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B70A89C8-A2F9-4A59-A591-17AEE0278D38}"/>
              </a:ext>
            </a:extLst>
          </p:cNvPr>
          <p:cNvCxnSpPr>
            <a:cxnSpLocks/>
          </p:cNvCxnSpPr>
          <p:nvPr/>
        </p:nvCxnSpPr>
        <p:spPr bwMode="auto">
          <a:xfrm flipV="1">
            <a:off x="6114326" y="1784643"/>
            <a:ext cx="0" cy="468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70A89C8-A2F9-4A59-A591-17AEE0278D38}"/>
              </a:ext>
            </a:extLst>
          </p:cNvPr>
          <p:cNvCxnSpPr>
            <a:cxnSpLocks/>
          </p:cNvCxnSpPr>
          <p:nvPr/>
        </p:nvCxnSpPr>
        <p:spPr bwMode="auto">
          <a:xfrm flipV="1">
            <a:off x="6107430" y="1785090"/>
            <a:ext cx="1281637" cy="4764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2D20D485-028D-4CF1-AA50-86038E93CFC4}"/>
              </a:ext>
            </a:extLst>
          </p:cNvPr>
          <p:cNvSpPr txBox="1"/>
          <p:nvPr/>
        </p:nvSpPr>
        <p:spPr>
          <a:xfrm>
            <a:off x="7155281" y="1530409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</a:rPr>
              <a:t>V, a   *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14" name="弧形 13"/>
          <p:cNvSpPr/>
          <p:nvPr/>
        </p:nvSpPr>
        <p:spPr bwMode="auto">
          <a:xfrm rot="8657960">
            <a:off x="5247308" y="1394705"/>
            <a:ext cx="1647259" cy="807563"/>
          </a:xfrm>
          <a:prstGeom prst="arc">
            <a:avLst>
              <a:gd name="adj1" fmla="val 12117531"/>
              <a:gd name="adj2" fmla="val 20811320"/>
            </a:avLst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16" name="直接连接符 15"/>
          <p:cNvCxnSpPr>
            <a:cxnSpLocks/>
          </p:cNvCxnSpPr>
          <p:nvPr/>
        </p:nvCxnSpPr>
        <p:spPr bwMode="auto">
          <a:xfrm>
            <a:off x="5747277" y="1260130"/>
            <a:ext cx="639099" cy="81489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2D20D485-028D-4CF1-AA50-86038E93CFC4}"/>
              </a:ext>
            </a:extLst>
          </p:cNvPr>
          <p:cNvSpPr txBox="1"/>
          <p:nvPr/>
        </p:nvSpPr>
        <p:spPr>
          <a:xfrm>
            <a:off x="5869022" y="1156183"/>
            <a:ext cx="959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</a:rPr>
              <a:t>Curvature (1/m)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195B482-03DA-4974-8BF0-B060E5D2033F}"/>
              </a:ext>
            </a:extLst>
          </p:cNvPr>
          <p:cNvSpPr txBox="1"/>
          <p:nvPr/>
        </p:nvSpPr>
        <p:spPr>
          <a:xfrm>
            <a:off x="3373207" y="4263202"/>
            <a:ext cx="2889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*Over ground speed and acceleration are requested for fusion object,</a:t>
            </a:r>
            <a:r>
              <a:rPr lang="zh-CN" altLang="en-US" sz="1200" dirty="0"/>
              <a:t> </a:t>
            </a:r>
            <a:r>
              <a:rPr lang="en-US" altLang="zh-CN" sz="1200" dirty="0"/>
              <a:t>ego motion compensated in Fusion</a:t>
            </a:r>
            <a:endParaRPr lang="zh-CN" altLang="en-US" sz="1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E05DE4-8691-4458-BB79-0068BB668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262791" y="3423557"/>
            <a:ext cx="314037" cy="685172"/>
          </a:xfrm>
          <a:prstGeom prst="rect">
            <a:avLst/>
          </a:prstGeom>
        </p:spPr>
      </p:pic>
      <p:sp>
        <p:nvSpPr>
          <p:cNvPr id="36" name="Oval 18">
            <a:extLst>
              <a:ext uri="{FF2B5EF4-FFF2-40B4-BE49-F238E27FC236}">
                <a16:creationId xmlns:a16="http://schemas.microsoft.com/office/drawing/2014/main" id="{5C09889C-99D8-443A-8C30-2BA8B8F42400}"/>
              </a:ext>
            </a:extLst>
          </p:cNvPr>
          <p:cNvSpPr/>
          <p:nvPr/>
        </p:nvSpPr>
        <p:spPr>
          <a:xfrm>
            <a:off x="6322586" y="3664904"/>
            <a:ext cx="204719" cy="204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2198C3B0-5C83-4E0C-836D-2D8A2987A323}"/>
              </a:ext>
            </a:extLst>
          </p:cNvPr>
          <p:cNvCxnSpPr>
            <a:cxnSpLocks/>
          </p:cNvCxnSpPr>
          <p:nvPr/>
        </p:nvCxnSpPr>
        <p:spPr bwMode="auto">
          <a:xfrm flipV="1">
            <a:off x="6419810" y="3749636"/>
            <a:ext cx="1260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D0F1E53D-9A44-4EB1-AF92-BF5C1722BDC5}"/>
              </a:ext>
            </a:extLst>
          </p:cNvPr>
          <p:cNvCxnSpPr>
            <a:cxnSpLocks/>
          </p:cNvCxnSpPr>
          <p:nvPr/>
        </p:nvCxnSpPr>
        <p:spPr bwMode="auto">
          <a:xfrm flipV="1">
            <a:off x="6421374" y="3290464"/>
            <a:ext cx="0" cy="468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Box 9">
            <a:extLst>
              <a:ext uri="{FF2B5EF4-FFF2-40B4-BE49-F238E27FC236}">
                <a16:creationId xmlns:a16="http://schemas.microsoft.com/office/drawing/2014/main" id="{B248AA13-18D5-429B-99AA-16F73C8DA52C}"/>
              </a:ext>
            </a:extLst>
          </p:cNvPr>
          <p:cNvSpPr txBox="1"/>
          <p:nvPr/>
        </p:nvSpPr>
        <p:spPr>
          <a:xfrm>
            <a:off x="7011379" y="4263202"/>
            <a:ext cx="1688530" cy="204278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>
              <a:lnSpc>
                <a:spcPct val="95000"/>
              </a:lnSpc>
              <a:buClr>
                <a:schemeClr val="accent1"/>
              </a:buClr>
            </a:pPr>
            <a:r>
              <a:rPr lang="en-US" sz="900" dirty="0">
                <a:solidFill>
                  <a:srgbClr val="FF0000"/>
                </a:solidFill>
              </a:rPr>
              <a:t>Object Pedestrian(fusion result)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3C34356-E3CA-4083-8370-4D84875E7B3B}"/>
              </a:ext>
            </a:extLst>
          </p:cNvPr>
          <p:cNvSpPr txBox="1"/>
          <p:nvPr/>
        </p:nvSpPr>
        <p:spPr>
          <a:xfrm>
            <a:off x="5898633" y="3739127"/>
            <a:ext cx="450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x, y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8A97F33-6B04-494F-94D1-27C299E841DD}"/>
              </a:ext>
            </a:extLst>
          </p:cNvPr>
          <p:cNvSpPr txBox="1"/>
          <p:nvPr/>
        </p:nvSpPr>
        <p:spPr>
          <a:xfrm>
            <a:off x="6454730" y="3087245"/>
            <a:ext cx="853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solidFill>
                  <a:srgbClr val="FF0000"/>
                </a:solidFill>
              </a:rPr>
              <a:t>Vy</a:t>
            </a:r>
            <a:r>
              <a:rPr lang="en-US" altLang="zh-CN" sz="1000" dirty="0">
                <a:solidFill>
                  <a:srgbClr val="FF0000"/>
                </a:solidFill>
              </a:rPr>
              <a:t>, ay *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399B2AC-E87F-4CF8-ADCD-C9D608D72B8D}"/>
              </a:ext>
            </a:extLst>
          </p:cNvPr>
          <p:cNvSpPr txBox="1"/>
          <p:nvPr/>
        </p:nvSpPr>
        <p:spPr>
          <a:xfrm>
            <a:off x="7550361" y="3742548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solidFill>
                  <a:srgbClr val="FF0000"/>
                </a:solidFill>
              </a:rPr>
              <a:t>Vx</a:t>
            </a:r>
            <a:r>
              <a:rPr lang="en-US" altLang="zh-CN" sz="1000" dirty="0">
                <a:solidFill>
                  <a:srgbClr val="FF0000"/>
                </a:solidFill>
              </a:rPr>
              <a:t>, ax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cxnSp>
        <p:nvCxnSpPr>
          <p:cNvPr id="50" name="Straight Connector 35">
            <a:extLst>
              <a:ext uri="{FF2B5EF4-FFF2-40B4-BE49-F238E27FC236}">
                <a16:creationId xmlns:a16="http://schemas.microsoft.com/office/drawing/2014/main" id="{E520663B-FA7E-465A-90CA-63742ACE936B}"/>
              </a:ext>
            </a:extLst>
          </p:cNvPr>
          <p:cNvCxnSpPr>
            <a:cxnSpLocks/>
          </p:cNvCxnSpPr>
          <p:nvPr/>
        </p:nvCxnSpPr>
        <p:spPr>
          <a:xfrm>
            <a:off x="1471298" y="2821169"/>
            <a:ext cx="4946950" cy="936413"/>
          </a:xfrm>
          <a:prstGeom prst="line">
            <a:avLst/>
          </a:prstGeom>
          <a:ln>
            <a:solidFill>
              <a:srgbClr val="00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633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7" descr="blue_car">
            <a:extLst/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5E8496"/>
              </a:clrFrom>
              <a:clrTo>
                <a:srgbClr val="5E849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32801">
            <a:off x="1709527" y="968382"/>
            <a:ext cx="571678" cy="1239524"/>
          </a:xfrm>
          <a:prstGeom prst="rect">
            <a:avLst/>
          </a:prstGeom>
          <a:noFill/>
          <a:ln>
            <a:noFill/>
          </a:ln>
          <a:extLst/>
        </p:spPr>
      </p:pic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2439630" y="24306"/>
            <a:ext cx="4340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Motion of object from sensor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C6BBAD1-9CB5-4D34-A883-48B047647D31}"/>
              </a:ext>
            </a:extLst>
          </p:cNvPr>
          <p:cNvSpPr txBox="1"/>
          <p:nvPr/>
        </p:nvSpPr>
        <p:spPr>
          <a:xfrm>
            <a:off x="353676" y="2107298"/>
            <a:ext cx="4901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Vy</a:t>
            </a:r>
            <a:endParaRPr lang="zh-CN" altLang="en-US" sz="12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E26864A-50F2-4152-A189-340803DD2FBE}"/>
              </a:ext>
            </a:extLst>
          </p:cNvPr>
          <p:cNvSpPr txBox="1"/>
          <p:nvPr/>
        </p:nvSpPr>
        <p:spPr>
          <a:xfrm>
            <a:off x="1806941" y="1062541"/>
            <a:ext cx="447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Vx</a:t>
            </a:r>
            <a:endParaRPr lang="zh-CN" altLang="en-US" sz="1200" dirty="0"/>
          </a:p>
        </p:txBody>
      </p:sp>
      <p:sp>
        <p:nvSpPr>
          <p:cNvPr id="52" name="TextBox 9">
            <a:extLst>
              <a:ext uri="{FF2B5EF4-FFF2-40B4-BE49-F238E27FC236}">
                <a16:creationId xmlns:a16="http://schemas.microsoft.com/office/drawing/2014/main" id="{892ECDEF-5017-460C-ABAB-233808BA67AE}"/>
              </a:ext>
            </a:extLst>
          </p:cNvPr>
          <p:cNvSpPr txBox="1"/>
          <p:nvPr/>
        </p:nvSpPr>
        <p:spPr>
          <a:xfrm>
            <a:off x="683568" y="620948"/>
            <a:ext cx="2595830" cy="306613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>
              <a:lnSpc>
                <a:spcPct val="95000"/>
              </a:lnSpc>
              <a:buClr>
                <a:schemeClr val="accent1"/>
              </a:buClr>
            </a:pPr>
            <a:r>
              <a:rPr lang="en-US" sz="1600" dirty="0">
                <a:solidFill>
                  <a:srgbClr val="00B050"/>
                </a:solidFill>
              </a:rPr>
              <a:t>Object motion from Camera</a:t>
            </a:r>
          </a:p>
        </p:txBody>
      </p:sp>
      <p:pic>
        <p:nvPicPr>
          <p:cNvPr id="39" name="Picture 8" descr="blue_car">
            <a:extLst>
              <a:ext uri="{FF2B5EF4-FFF2-40B4-BE49-F238E27FC236}">
                <a16:creationId xmlns:a16="http://schemas.microsoft.com/office/drawing/2014/main" id="{1242905E-B3FF-412F-B0D7-F747C4A550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4662" y="3601074"/>
            <a:ext cx="701946" cy="1521974"/>
          </a:xfrm>
          <a:prstGeom prst="rect">
            <a:avLst/>
          </a:prstGeom>
          <a:noFill/>
          <a:ln>
            <a:noFill/>
          </a:ln>
          <a:extLst/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8CEBD11A-0239-412D-A588-C3D3C2017E6F}"/>
              </a:ext>
            </a:extLst>
          </p:cNvPr>
          <p:cNvSpPr txBox="1"/>
          <p:nvPr/>
        </p:nvSpPr>
        <p:spPr>
          <a:xfrm>
            <a:off x="3631318" y="4546849"/>
            <a:ext cx="313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Y</a:t>
            </a:r>
            <a:endParaRPr lang="zh-CN" altLang="en-US" sz="12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9C0B3A2-E763-4DBF-B626-2E7B9860A199}"/>
              </a:ext>
            </a:extLst>
          </p:cNvPr>
          <p:cNvSpPr txBox="1"/>
          <p:nvPr/>
        </p:nvSpPr>
        <p:spPr>
          <a:xfrm>
            <a:off x="4774471" y="3695021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X</a:t>
            </a:r>
            <a:endParaRPr lang="zh-CN" altLang="en-US" sz="1200" dirty="0"/>
          </a:p>
        </p:txBody>
      </p:sp>
      <p:sp>
        <p:nvSpPr>
          <p:cNvPr id="45" name="TextBox 9">
            <a:extLst>
              <a:ext uri="{FF2B5EF4-FFF2-40B4-BE49-F238E27FC236}">
                <a16:creationId xmlns:a16="http://schemas.microsoft.com/office/drawing/2014/main" id="{E7C9301B-BE6F-4F02-83BA-E97B2329A167}"/>
              </a:ext>
            </a:extLst>
          </p:cNvPr>
          <p:cNvSpPr txBox="1"/>
          <p:nvPr/>
        </p:nvSpPr>
        <p:spPr>
          <a:xfrm>
            <a:off x="6300192" y="620947"/>
            <a:ext cx="2424309" cy="306613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>
              <a:lnSpc>
                <a:spcPct val="95000"/>
              </a:lnSpc>
              <a:buClr>
                <a:schemeClr val="accent1"/>
              </a:buClr>
            </a:pPr>
            <a:r>
              <a:rPr lang="en-US" sz="1600" dirty="0">
                <a:solidFill>
                  <a:srgbClr val="00B050"/>
                </a:solidFill>
              </a:rPr>
              <a:t>Object motion from </a:t>
            </a:r>
            <a:r>
              <a:rPr lang="en-US" altLang="zh-CN" sz="1600" dirty="0">
                <a:solidFill>
                  <a:srgbClr val="00B050"/>
                </a:solidFill>
              </a:rPr>
              <a:t>Radar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47" name="Oval 18">
            <a:extLst>
              <a:ext uri="{FF2B5EF4-FFF2-40B4-BE49-F238E27FC236}">
                <a16:creationId xmlns:a16="http://schemas.microsoft.com/office/drawing/2014/main" id="{67E91BEB-F0E0-403C-92CE-81D63E9F90E4}"/>
              </a:ext>
            </a:extLst>
          </p:cNvPr>
          <p:cNvSpPr/>
          <p:nvPr/>
        </p:nvSpPr>
        <p:spPr>
          <a:xfrm>
            <a:off x="4451261" y="4595165"/>
            <a:ext cx="204719" cy="204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656CFA87-D833-415C-9822-0E196E3E00CC}"/>
              </a:ext>
            </a:extLst>
          </p:cNvPr>
          <p:cNvCxnSpPr>
            <a:cxnSpLocks/>
          </p:cNvCxnSpPr>
          <p:nvPr/>
        </p:nvCxnSpPr>
        <p:spPr bwMode="auto">
          <a:xfrm flipH="1">
            <a:off x="3907457" y="4714265"/>
            <a:ext cx="654085" cy="107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Rectangle 1"/>
          <p:cNvSpPr/>
          <p:nvPr/>
        </p:nvSpPr>
        <p:spPr bwMode="auto">
          <a:xfrm rot="1215553">
            <a:off x="1530310" y="2028774"/>
            <a:ext cx="571678" cy="14376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499909" y="4021440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Host vehicle</a:t>
            </a:r>
            <a:endParaRPr lang="zh-CN" altLang="en-US" dirty="0"/>
          </a:p>
        </p:txBody>
      </p:sp>
      <p:sp>
        <p:nvSpPr>
          <p:cNvPr id="23" name="Rectangle 22"/>
          <p:cNvSpPr/>
          <p:nvPr/>
        </p:nvSpPr>
        <p:spPr>
          <a:xfrm>
            <a:off x="543271" y="2515368"/>
            <a:ext cx="1450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Vision b-box</a:t>
            </a:r>
            <a:endParaRPr lang="zh-CN" altLang="en-US" dirty="0"/>
          </a:p>
        </p:txBody>
      </p:sp>
      <p:cxnSp>
        <p:nvCxnSpPr>
          <p:cNvPr id="7" name="Straight Arrow Connector 6"/>
          <p:cNvCxnSpPr/>
          <p:nvPr/>
        </p:nvCxnSpPr>
        <p:spPr bwMode="auto">
          <a:xfrm flipH="1" flipV="1">
            <a:off x="683569" y="1225577"/>
            <a:ext cx="3870016" cy="29430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Straight Arrow Connector 4"/>
          <p:cNvCxnSpPr>
            <a:endCxn id="2" idx="2"/>
          </p:cNvCxnSpPr>
          <p:nvPr/>
        </p:nvCxnSpPr>
        <p:spPr bwMode="auto">
          <a:xfrm flipV="1">
            <a:off x="1523102" y="2168090"/>
            <a:ext cx="268157" cy="3472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Arrow: Curved Down 7"/>
          <p:cNvSpPr/>
          <p:nvPr/>
        </p:nvSpPr>
        <p:spPr bwMode="auto">
          <a:xfrm rot="10800000" flipV="1">
            <a:off x="1160930" y="1416219"/>
            <a:ext cx="615689" cy="211836"/>
          </a:xfrm>
          <a:prstGeom prst="curvedDownArrow">
            <a:avLst>
              <a:gd name="adj1" fmla="val 0"/>
              <a:gd name="adj2" fmla="val 50000"/>
              <a:gd name="adj3" fmla="val 5041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02153" y="828791"/>
            <a:ext cx="9412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Vision </a:t>
            </a:r>
          </a:p>
          <a:p>
            <a:pPr algn="ctr"/>
            <a:r>
              <a:rPr lang="en-US" altLang="zh-CN" dirty="0"/>
              <a:t>angle </a:t>
            </a:r>
            <a:r>
              <a:rPr lang="el-GR" altLang="zh-CN" dirty="0">
                <a:ea typeface="Ebrima" panose="02000000000000000000" pitchFamily="2" charset="0"/>
                <a:cs typeface="Ebrima" panose="02000000000000000000" pitchFamily="2" charset="0"/>
              </a:rPr>
              <a:t>θ</a:t>
            </a:r>
            <a:endParaRPr lang="zh-CN" altLang="en-US" dirty="0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53A4DCA2-6517-470F-A33F-82DC9C2EBFEA}"/>
              </a:ext>
            </a:extLst>
          </p:cNvPr>
          <p:cNvCxnSpPr>
            <a:cxnSpLocks/>
          </p:cNvCxnSpPr>
          <p:nvPr/>
        </p:nvCxnSpPr>
        <p:spPr bwMode="auto">
          <a:xfrm flipV="1">
            <a:off x="1816149" y="1225576"/>
            <a:ext cx="0" cy="8807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185F843B-4C20-4B74-B2BF-DCC664F2E80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80792" y="2106318"/>
            <a:ext cx="1239336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0" name="Picture 17" descr="blue_car">
            <a:extLst/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5E8496"/>
              </a:clrFrom>
              <a:clrTo>
                <a:srgbClr val="5E849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32801">
            <a:off x="6770065" y="1119365"/>
            <a:ext cx="571678" cy="1239524"/>
          </a:xfrm>
          <a:prstGeom prst="rect">
            <a:avLst/>
          </a:prstGeom>
          <a:noFill/>
          <a:ln>
            <a:noFill/>
          </a:ln>
          <a:extLst/>
        </p:spPr>
      </p:pic>
      <p:sp>
        <p:nvSpPr>
          <p:cNvPr id="33" name="Star: 4 Points 32"/>
          <p:cNvSpPr/>
          <p:nvPr/>
        </p:nvSpPr>
        <p:spPr bwMode="auto">
          <a:xfrm>
            <a:off x="6507652" y="2105946"/>
            <a:ext cx="288032" cy="288032"/>
          </a:xfrm>
          <a:prstGeom prst="star4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34" name="Straight Arrow Connector 33"/>
          <p:cNvCxnSpPr/>
          <p:nvPr/>
        </p:nvCxnSpPr>
        <p:spPr bwMode="auto">
          <a:xfrm flipV="1">
            <a:off x="4525635" y="1426115"/>
            <a:ext cx="3358733" cy="23437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箭头连接符 36">
            <a:extLst/>
          </p:cNvPr>
          <p:cNvCxnSpPr>
            <a:cxnSpLocks/>
          </p:cNvCxnSpPr>
          <p:nvPr/>
        </p:nvCxnSpPr>
        <p:spPr bwMode="auto">
          <a:xfrm flipV="1">
            <a:off x="6658756" y="1383995"/>
            <a:ext cx="0" cy="8807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直接箭头连接符 35">
            <a:extLst/>
          </p:cNvPr>
          <p:cNvCxnSpPr>
            <a:cxnSpLocks/>
          </p:cNvCxnSpPr>
          <p:nvPr/>
        </p:nvCxnSpPr>
        <p:spPr bwMode="auto">
          <a:xfrm flipH="1" flipV="1">
            <a:off x="5423399" y="2264737"/>
            <a:ext cx="1239336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" name="Rectangle 42"/>
          <p:cNvSpPr/>
          <p:nvPr/>
        </p:nvSpPr>
        <p:spPr>
          <a:xfrm>
            <a:off x="6651668" y="2301757"/>
            <a:ext cx="1377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Radar track</a:t>
            </a:r>
            <a:endParaRPr lang="zh-CN" altLang="en-US" dirty="0"/>
          </a:p>
        </p:txBody>
      </p:sp>
      <p:sp>
        <p:nvSpPr>
          <p:cNvPr id="44" name="Rectangle 43"/>
          <p:cNvSpPr/>
          <p:nvPr/>
        </p:nvSpPr>
        <p:spPr>
          <a:xfrm rot="19407675">
            <a:off x="5588433" y="2330702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Range</a:t>
            </a:r>
            <a:endParaRPr lang="zh-CN" altLang="en-US" dirty="0"/>
          </a:p>
        </p:txBody>
      </p:sp>
      <p:sp>
        <p:nvSpPr>
          <p:cNvPr id="48" name="Rectangle 47"/>
          <p:cNvSpPr/>
          <p:nvPr/>
        </p:nvSpPr>
        <p:spPr>
          <a:xfrm>
            <a:off x="7884368" y="1290456"/>
            <a:ext cx="132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Range rate</a:t>
            </a:r>
            <a:endParaRPr lang="zh-CN" altLang="en-US" dirty="0"/>
          </a:p>
        </p:txBody>
      </p:sp>
      <p:sp>
        <p:nvSpPr>
          <p:cNvPr id="49" name="Rectangle 48"/>
          <p:cNvSpPr/>
          <p:nvPr/>
        </p:nvSpPr>
        <p:spPr>
          <a:xfrm>
            <a:off x="6740979" y="860351"/>
            <a:ext cx="9412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Radar </a:t>
            </a:r>
          </a:p>
          <a:p>
            <a:pPr algn="ctr"/>
            <a:r>
              <a:rPr lang="en-US" altLang="zh-CN" dirty="0"/>
              <a:t>angle </a:t>
            </a:r>
            <a:r>
              <a:rPr lang="el-GR" altLang="zh-CN" dirty="0">
                <a:ea typeface="Ebrima" panose="02000000000000000000" pitchFamily="2" charset="0"/>
                <a:cs typeface="Ebrima" panose="02000000000000000000" pitchFamily="2" charset="0"/>
              </a:rPr>
              <a:t>θ</a:t>
            </a:r>
            <a:endParaRPr lang="zh-CN" altLang="en-US" dirty="0"/>
          </a:p>
        </p:txBody>
      </p:sp>
      <p:sp>
        <p:nvSpPr>
          <p:cNvPr id="51" name="Arrow: Curved Down 50"/>
          <p:cNvSpPr/>
          <p:nvPr/>
        </p:nvSpPr>
        <p:spPr bwMode="auto">
          <a:xfrm rot="10800000" flipH="1" flipV="1">
            <a:off x="6651668" y="1495143"/>
            <a:ext cx="799609" cy="323753"/>
          </a:xfrm>
          <a:prstGeom prst="curvedDownArrow">
            <a:avLst>
              <a:gd name="adj1" fmla="val 0"/>
              <a:gd name="adj2" fmla="val 50000"/>
              <a:gd name="adj3" fmla="val 5041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006" y="3118049"/>
            <a:ext cx="753580" cy="492583"/>
          </a:xfrm>
          <a:prstGeom prst="rect">
            <a:avLst/>
          </a:prstGeom>
        </p:spPr>
      </p:pic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AC2B9D3F-8943-4642-8699-FA8FF0F76A92}"/>
              </a:ext>
            </a:extLst>
          </p:cNvPr>
          <p:cNvCxnSpPr>
            <a:cxnSpLocks/>
          </p:cNvCxnSpPr>
          <p:nvPr/>
        </p:nvCxnSpPr>
        <p:spPr bwMode="auto">
          <a:xfrm flipV="1">
            <a:off x="4557563" y="3769836"/>
            <a:ext cx="3979" cy="944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8893" y="3432297"/>
            <a:ext cx="717874" cy="514033"/>
          </a:xfrm>
          <a:prstGeom prst="rect">
            <a:avLst/>
          </a:prstGeom>
        </p:spPr>
      </p:pic>
      <p:sp>
        <p:nvSpPr>
          <p:cNvPr id="53" name="文本框 39">
            <a:extLst/>
          </p:cNvPr>
          <p:cNvSpPr txBox="1"/>
          <p:nvPr/>
        </p:nvSpPr>
        <p:spPr>
          <a:xfrm>
            <a:off x="5204370" y="2154220"/>
            <a:ext cx="313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Y</a:t>
            </a:r>
            <a:endParaRPr lang="zh-CN" altLang="en-US" sz="1200" dirty="0"/>
          </a:p>
        </p:txBody>
      </p:sp>
      <p:sp>
        <p:nvSpPr>
          <p:cNvPr id="54" name="文本框 40">
            <a:extLst/>
          </p:cNvPr>
          <p:cNvSpPr txBox="1"/>
          <p:nvPr/>
        </p:nvSpPr>
        <p:spPr>
          <a:xfrm>
            <a:off x="6368958" y="1239772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X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98047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1403647" y="557907"/>
            <a:ext cx="5705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Software Architecture of</a:t>
            </a:r>
            <a:r>
              <a:rPr lang="zh-CN" altLang="en-US" sz="2400" dirty="0"/>
              <a:t> </a:t>
            </a:r>
            <a:r>
              <a:rPr lang="en-US" altLang="zh-CN" sz="2400" dirty="0"/>
              <a:t>sensor</a:t>
            </a:r>
            <a:r>
              <a:rPr lang="zh-CN" altLang="en-US" sz="2400" dirty="0"/>
              <a:t> </a:t>
            </a:r>
            <a:r>
              <a:rPr lang="en-US" altLang="zh-CN" sz="2400" dirty="0"/>
              <a:t>fusion</a:t>
            </a:r>
            <a:endParaRPr lang="zh-CN" altLang="en-US" sz="2400" dirty="0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2F7EA759-2B1B-43C4-9CC8-EAB505254AFB}"/>
              </a:ext>
            </a:extLst>
          </p:cNvPr>
          <p:cNvSpPr/>
          <p:nvPr/>
        </p:nvSpPr>
        <p:spPr bwMode="auto">
          <a:xfrm>
            <a:off x="6692462" y="283258"/>
            <a:ext cx="477595" cy="209786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4C516C5-A829-47C9-B814-4D041482DFC6}"/>
              </a:ext>
            </a:extLst>
          </p:cNvPr>
          <p:cNvSpPr txBox="1"/>
          <p:nvPr/>
        </p:nvSpPr>
        <p:spPr>
          <a:xfrm>
            <a:off x="7224985" y="251517"/>
            <a:ext cx="849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22HZ</a:t>
            </a:r>
            <a:endParaRPr lang="zh-CN" altLang="en-US" sz="11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6DE47BE-DDA8-4C8E-9B97-EE3621FD48E7}"/>
              </a:ext>
            </a:extLst>
          </p:cNvPr>
          <p:cNvSpPr/>
          <p:nvPr/>
        </p:nvSpPr>
        <p:spPr bwMode="auto">
          <a:xfrm>
            <a:off x="928064" y="2214091"/>
            <a:ext cx="676096" cy="2019218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Senor</a:t>
            </a:r>
          </a:p>
          <a:p>
            <a:pPr algn="ctr" eaLnBrk="1" hangingPunct="1"/>
            <a:r>
              <a:rPr lang="en-US" altLang="zh-CN" sz="1100" dirty="0"/>
              <a:t>data</a:t>
            </a:r>
          </a:p>
          <a:p>
            <a:pPr algn="ctr" eaLnBrk="1" hangingPunct="1"/>
            <a:r>
              <a:rPr lang="en-US" altLang="zh-CN" sz="1100" dirty="0"/>
              <a:t>adaptor</a:t>
            </a:r>
            <a:endParaRPr lang="zh-CN" altLang="en-US" sz="700" dirty="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F8AE557-0264-485B-8227-40C9D2F147B3}"/>
              </a:ext>
            </a:extLst>
          </p:cNvPr>
          <p:cNvSpPr/>
          <p:nvPr/>
        </p:nvSpPr>
        <p:spPr bwMode="auto">
          <a:xfrm>
            <a:off x="2008184" y="1351748"/>
            <a:ext cx="1152128" cy="2883314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Measurement</a:t>
            </a:r>
          </a:p>
          <a:p>
            <a:pPr algn="ctr" eaLnBrk="1" hangingPunct="1"/>
            <a:r>
              <a:rPr lang="en-US" altLang="zh-CN" sz="1100" dirty="0"/>
              <a:t>time stamp</a:t>
            </a:r>
          </a:p>
          <a:p>
            <a:pPr algn="ctr" eaLnBrk="1" hangingPunct="1"/>
            <a:r>
              <a:rPr lang="en-US" altLang="zh-CN" sz="1100" dirty="0"/>
              <a:t>management</a:t>
            </a:r>
            <a:endParaRPr lang="zh-CN" altLang="en-US" sz="700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0EBECE9-7BA4-4CBB-B7C7-CB4BC529F496}"/>
              </a:ext>
            </a:extLst>
          </p:cNvPr>
          <p:cNvSpPr/>
          <p:nvPr/>
        </p:nvSpPr>
        <p:spPr bwMode="auto">
          <a:xfrm>
            <a:off x="3531363" y="3078187"/>
            <a:ext cx="997101" cy="115512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Association</a:t>
            </a:r>
            <a:endParaRPr lang="zh-CN" altLang="en-US" sz="70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E7DFC8B-F62C-49A9-B766-DF638EE2DE8B}"/>
              </a:ext>
            </a:extLst>
          </p:cNvPr>
          <p:cNvSpPr/>
          <p:nvPr/>
        </p:nvSpPr>
        <p:spPr bwMode="auto">
          <a:xfrm>
            <a:off x="4901107" y="3078187"/>
            <a:ext cx="991228" cy="115512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State update</a:t>
            </a:r>
            <a:endParaRPr lang="zh-CN" altLang="en-US" sz="70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B8665D8-E1B4-4311-87C9-EB6E7B7FECDA}"/>
              </a:ext>
            </a:extLst>
          </p:cNvPr>
          <p:cNvSpPr/>
          <p:nvPr/>
        </p:nvSpPr>
        <p:spPr bwMode="auto">
          <a:xfrm>
            <a:off x="6266704" y="1349995"/>
            <a:ext cx="740417" cy="2883314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Book</a:t>
            </a:r>
          </a:p>
          <a:p>
            <a:pPr algn="ctr" eaLnBrk="1" hangingPunct="1"/>
            <a:r>
              <a:rPr lang="en-US" altLang="zh-CN" sz="1100" dirty="0"/>
              <a:t>Keeping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AA48DE7-66AC-4A9D-A404-9AA6B3332871}"/>
              </a:ext>
            </a:extLst>
          </p:cNvPr>
          <p:cNvSpPr/>
          <p:nvPr/>
        </p:nvSpPr>
        <p:spPr bwMode="auto">
          <a:xfrm>
            <a:off x="3531363" y="1349995"/>
            <a:ext cx="2360972" cy="118813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200" dirty="0"/>
              <a:t>Track management</a:t>
            </a:r>
          </a:p>
          <a:p>
            <a:pPr algn="ctr" eaLnBrk="1" hangingPunct="1"/>
            <a:r>
              <a:rPr lang="en-US" altLang="zh-CN" sz="1200" dirty="0"/>
              <a:t>(Track </a:t>
            </a:r>
            <a:r>
              <a:rPr lang="en-US" altLang="zh-CN" sz="1200" dirty="0" err="1"/>
              <a:t>init.</a:t>
            </a:r>
            <a:r>
              <a:rPr lang="en-US" altLang="zh-CN" sz="1200" dirty="0"/>
              <a:t> included)</a:t>
            </a:r>
            <a:endParaRPr lang="zh-CN" altLang="en-US" sz="800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0FBE1FD-A4F7-4C7F-B800-BE4F5FE2FED4}"/>
              </a:ext>
            </a:extLst>
          </p:cNvPr>
          <p:cNvSpPr/>
          <p:nvPr/>
        </p:nvSpPr>
        <p:spPr bwMode="auto">
          <a:xfrm>
            <a:off x="7398736" y="3006179"/>
            <a:ext cx="936104" cy="1227130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Barrier</a:t>
            </a:r>
          </a:p>
          <a:p>
            <a:pPr algn="ctr" eaLnBrk="1" hangingPunct="1"/>
            <a:r>
              <a:rPr lang="en-US" altLang="zh-CN" sz="1100" dirty="0"/>
              <a:t>estimation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9D834F6-160E-435E-96BA-08B3F5D077AB}"/>
              </a:ext>
            </a:extLst>
          </p:cNvPr>
          <p:cNvSpPr/>
          <p:nvPr/>
        </p:nvSpPr>
        <p:spPr bwMode="auto">
          <a:xfrm>
            <a:off x="7398736" y="1349995"/>
            <a:ext cx="936104" cy="1227130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Confidence assessment</a:t>
            </a: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BA71D232-E97A-44F8-8EFA-8BEDA9AB0C55}"/>
              </a:ext>
            </a:extLst>
          </p:cNvPr>
          <p:cNvCxnSpPr>
            <a:cxnSpLocks/>
          </p:cNvCxnSpPr>
          <p:nvPr/>
        </p:nvCxnSpPr>
        <p:spPr bwMode="auto">
          <a:xfrm>
            <a:off x="395536" y="2718147"/>
            <a:ext cx="532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1B4DEAAE-966A-4E43-AC8E-48197F924AB4}"/>
              </a:ext>
            </a:extLst>
          </p:cNvPr>
          <p:cNvCxnSpPr>
            <a:cxnSpLocks/>
          </p:cNvCxnSpPr>
          <p:nvPr/>
        </p:nvCxnSpPr>
        <p:spPr bwMode="auto">
          <a:xfrm>
            <a:off x="395536" y="3654251"/>
            <a:ext cx="532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5F179419-85C2-4966-9EBF-68BC62BDE9DF}"/>
              </a:ext>
            </a:extLst>
          </p:cNvPr>
          <p:cNvCxnSpPr>
            <a:cxnSpLocks/>
          </p:cNvCxnSpPr>
          <p:nvPr/>
        </p:nvCxnSpPr>
        <p:spPr bwMode="auto">
          <a:xfrm>
            <a:off x="467544" y="1805491"/>
            <a:ext cx="1530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C5D43F42-5E1D-412F-A1D0-34238C102563}"/>
              </a:ext>
            </a:extLst>
          </p:cNvPr>
          <p:cNvCxnSpPr/>
          <p:nvPr/>
        </p:nvCxnSpPr>
        <p:spPr bwMode="auto">
          <a:xfrm>
            <a:off x="1614656" y="3150195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7E57DA10-9C1E-4A37-B09A-C47E56C25149}"/>
              </a:ext>
            </a:extLst>
          </p:cNvPr>
          <p:cNvCxnSpPr>
            <a:cxnSpLocks/>
          </p:cNvCxnSpPr>
          <p:nvPr/>
        </p:nvCxnSpPr>
        <p:spPr bwMode="auto">
          <a:xfrm>
            <a:off x="3160312" y="1926059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D44F9E1E-8DB2-4B9D-8DBB-7DE92E08A879}"/>
              </a:ext>
            </a:extLst>
          </p:cNvPr>
          <p:cNvCxnSpPr>
            <a:cxnSpLocks/>
          </p:cNvCxnSpPr>
          <p:nvPr/>
        </p:nvCxnSpPr>
        <p:spPr bwMode="auto">
          <a:xfrm>
            <a:off x="3160312" y="3642653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40B6FD4F-2C77-4671-BA94-498B80275E7D}"/>
              </a:ext>
            </a:extLst>
          </p:cNvPr>
          <p:cNvCxnSpPr>
            <a:cxnSpLocks/>
          </p:cNvCxnSpPr>
          <p:nvPr/>
        </p:nvCxnSpPr>
        <p:spPr bwMode="auto">
          <a:xfrm>
            <a:off x="4530056" y="3654251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F4A517FF-8F7D-40CB-A9B8-8058FACDDC8C}"/>
              </a:ext>
            </a:extLst>
          </p:cNvPr>
          <p:cNvCxnSpPr>
            <a:cxnSpLocks/>
          </p:cNvCxnSpPr>
          <p:nvPr/>
        </p:nvCxnSpPr>
        <p:spPr bwMode="auto">
          <a:xfrm>
            <a:off x="5892335" y="1937908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36076E4C-4FCD-42DF-97E8-3356ACBC1278}"/>
              </a:ext>
            </a:extLst>
          </p:cNvPr>
          <p:cNvCxnSpPr>
            <a:cxnSpLocks/>
          </p:cNvCxnSpPr>
          <p:nvPr/>
        </p:nvCxnSpPr>
        <p:spPr bwMode="auto">
          <a:xfrm>
            <a:off x="7016667" y="1942993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0BE59866-F58B-4FD3-9FCC-EB5A43D21E1E}"/>
              </a:ext>
            </a:extLst>
          </p:cNvPr>
          <p:cNvCxnSpPr>
            <a:cxnSpLocks/>
          </p:cNvCxnSpPr>
          <p:nvPr/>
        </p:nvCxnSpPr>
        <p:spPr bwMode="auto">
          <a:xfrm>
            <a:off x="7021691" y="3677701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33F4EE9A-E4DB-4649-A798-E4FD15F3EB14}"/>
              </a:ext>
            </a:extLst>
          </p:cNvPr>
          <p:cNvCxnSpPr>
            <a:cxnSpLocks/>
            <a:stCxn id="78" idx="0"/>
          </p:cNvCxnSpPr>
          <p:nvPr/>
        </p:nvCxnSpPr>
        <p:spPr bwMode="auto">
          <a:xfrm flipV="1">
            <a:off x="5396721" y="2538127"/>
            <a:ext cx="0" cy="540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5E891B06-BF06-4460-A043-AF99B8124ABB}"/>
              </a:ext>
            </a:extLst>
          </p:cNvPr>
          <p:cNvCxnSpPr>
            <a:cxnSpLocks/>
            <a:endCxn id="76" idx="0"/>
          </p:cNvCxnSpPr>
          <p:nvPr/>
        </p:nvCxnSpPr>
        <p:spPr bwMode="auto">
          <a:xfrm>
            <a:off x="4029914" y="2538127"/>
            <a:ext cx="0" cy="540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BC64E6FB-3957-4C6D-9634-522DED344DA9}"/>
              </a:ext>
            </a:extLst>
          </p:cNvPr>
          <p:cNvCxnSpPr/>
          <p:nvPr/>
        </p:nvCxnSpPr>
        <p:spPr bwMode="auto">
          <a:xfrm>
            <a:off x="8334840" y="1963560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2FD92314-C8BD-41DB-A88D-F350123CF99C}"/>
              </a:ext>
            </a:extLst>
          </p:cNvPr>
          <p:cNvCxnSpPr/>
          <p:nvPr/>
        </p:nvCxnSpPr>
        <p:spPr bwMode="auto">
          <a:xfrm>
            <a:off x="8339864" y="3677701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68B6CBB-1438-4557-B881-611449D09EBC}"/>
              </a:ext>
            </a:extLst>
          </p:cNvPr>
          <p:cNvSpPr txBox="1"/>
          <p:nvPr/>
        </p:nvSpPr>
        <p:spPr>
          <a:xfrm>
            <a:off x="315101" y="1543881"/>
            <a:ext cx="944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Ego Motion</a:t>
            </a:r>
            <a:endParaRPr lang="zh-CN" altLang="en-US" sz="11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72A6E25C-7DEE-4A99-926B-C68CA91B2344}"/>
              </a:ext>
            </a:extLst>
          </p:cNvPr>
          <p:cNvSpPr txBox="1"/>
          <p:nvPr/>
        </p:nvSpPr>
        <p:spPr>
          <a:xfrm>
            <a:off x="220690" y="2502703"/>
            <a:ext cx="9445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Vision Detection</a:t>
            </a:r>
            <a:endParaRPr lang="zh-CN" altLang="en-US" sz="11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96F8699-D7CC-4083-BA4B-0F0B385DBB97}"/>
              </a:ext>
            </a:extLst>
          </p:cNvPr>
          <p:cNvSpPr txBox="1"/>
          <p:nvPr/>
        </p:nvSpPr>
        <p:spPr>
          <a:xfrm>
            <a:off x="217955" y="3438227"/>
            <a:ext cx="9445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Radar Detection</a:t>
            </a:r>
            <a:endParaRPr lang="zh-CN" altLang="en-US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873D20-039F-4A14-8941-F8BD9F2A07F3}"/>
              </a:ext>
            </a:extLst>
          </p:cNvPr>
          <p:cNvSpPr/>
          <p:nvPr/>
        </p:nvSpPr>
        <p:spPr bwMode="auto">
          <a:xfrm>
            <a:off x="827584" y="2070075"/>
            <a:ext cx="864096" cy="2304256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0056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1907704" y="52425"/>
            <a:ext cx="4063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2400" dirty="0"/>
              <a:t>Senor data adaptor</a:t>
            </a:r>
            <a:endParaRPr lang="zh-CN" altLang="en-US" sz="800" dirty="0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2F7EA759-2B1B-43C4-9CC8-EAB505254AFB}"/>
              </a:ext>
            </a:extLst>
          </p:cNvPr>
          <p:cNvSpPr/>
          <p:nvPr/>
        </p:nvSpPr>
        <p:spPr bwMode="auto">
          <a:xfrm>
            <a:off x="6692462" y="283258"/>
            <a:ext cx="477595" cy="209786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4C516C5-A829-47C9-B814-4D041482DFC6}"/>
              </a:ext>
            </a:extLst>
          </p:cNvPr>
          <p:cNvSpPr txBox="1"/>
          <p:nvPr/>
        </p:nvSpPr>
        <p:spPr>
          <a:xfrm>
            <a:off x="7224985" y="251517"/>
            <a:ext cx="849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22HZ</a:t>
            </a:r>
            <a:endParaRPr lang="zh-CN" altLang="en-US" sz="1100" dirty="0"/>
          </a:p>
        </p:txBody>
      </p:sp>
      <p:sp>
        <p:nvSpPr>
          <p:cNvPr id="6" name="矩形 1">
            <a:extLst/>
          </p:cNvPr>
          <p:cNvSpPr/>
          <p:nvPr/>
        </p:nvSpPr>
        <p:spPr>
          <a:xfrm>
            <a:off x="323528" y="2977857"/>
            <a:ext cx="8568952" cy="2166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0"/>
              </a:spcAft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Function: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Read in the radar/vision sensor data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Convert the information from sensor coordinate system to vehicle coordinate system</a:t>
            </a: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Compute the over-the-ground velocity (if necessary) based on relative velocity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Filter out some low quality/suspicious track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Radar double bounce detector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Radar range-rate de-aliasing</a:t>
            </a:r>
          </a:p>
        </p:txBody>
      </p:sp>
      <p:sp>
        <p:nvSpPr>
          <p:cNvPr id="7" name="矩形 1">
            <a:extLst/>
          </p:cNvPr>
          <p:cNvSpPr/>
          <p:nvPr/>
        </p:nvSpPr>
        <p:spPr>
          <a:xfrm>
            <a:off x="323528" y="527411"/>
            <a:ext cx="3600400" cy="1619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Input: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Vision track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Vision sensor healthiness signal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Radar track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Radar sensor healthiness signal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Vehicle motion</a:t>
            </a:r>
          </a:p>
        </p:txBody>
      </p:sp>
      <p:sp>
        <p:nvSpPr>
          <p:cNvPr id="8" name="矩形 1">
            <a:extLst/>
          </p:cNvPr>
          <p:cNvSpPr/>
          <p:nvPr/>
        </p:nvSpPr>
        <p:spPr>
          <a:xfrm>
            <a:off x="338984" y="2070075"/>
            <a:ext cx="4449040" cy="881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Output: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Processed vision track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Processed radar track structure</a:t>
            </a:r>
          </a:p>
        </p:txBody>
      </p:sp>
      <p:pic>
        <p:nvPicPr>
          <p:cNvPr id="9" name="Picture 8" descr="blue_car">
            <a:extLst/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437051" y="514862"/>
            <a:ext cx="701946" cy="1521974"/>
          </a:xfrm>
          <a:prstGeom prst="rect">
            <a:avLst/>
          </a:prstGeom>
          <a:noFill/>
          <a:ln>
            <a:noFill/>
          </a:ln>
          <a:extLst/>
        </p:spPr>
      </p:pic>
      <p:pic>
        <p:nvPicPr>
          <p:cNvPr id="10" name="Picture 17" descr="blue_car">
            <a:extLst/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5E8496"/>
              </a:clrFrom>
              <a:clrTo>
                <a:srgbClr val="5E849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747766" y="492446"/>
            <a:ext cx="722623" cy="1566806"/>
          </a:xfrm>
          <a:prstGeom prst="rect">
            <a:avLst/>
          </a:prstGeom>
          <a:noFill/>
          <a:ln>
            <a:noFill/>
          </a:ln>
          <a:extLst/>
        </p:spPr>
      </p:pic>
      <p:sp>
        <p:nvSpPr>
          <p:cNvPr id="14" name="Freeform: Shape 13"/>
          <p:cNvSpPr/>
          <p:nvPr/>
        </p:nvSpPr>
        <p:spPr bwMode="auto">
          <a:xfrm>
            <a:off x="5650951" y="903645"/>
            <a:ext cx="1630435" cy="712767"/>
          </a:xfrm>
          <a:custGeom>
            <a:avLst/>
            <a:gdLst>
              <a:gd name="connsiteX0" fmla="*/ 0 w 1630435"/>
              <a:gd name="connsiteY0" fmla="*/ 27908 h 712767"/>
              <a:gd name="connsiteX1" fmla="*/ 1329070 w 1630435"/>
              <a:gd name="connsiteY1" fmla="*/ 17275 h 712767"/>
              <a:gd name="connsiteX2" fmla="*/ 1552354 w 1630435"/>
              <a:gd name="connsiteY2" fmla="*/ 229926 h 712767"/>
              <a:gd name="connsiteX3" fmla="*/ 276447 w 1630435"/>
              <a:gd name="connsiteY3" fmla="*/ 272457 h 712767"/>
              <a:gd name="connsiteX4" fmla="*/ 85061 w 1630435"/>
              <a:gd name="connsiteY4" fmla="*/ 474475 h 712767"/>
              <a:gd name="connsiteX5" fmla="*/ 1339703 w 1630435"/>
              <a:gd name="connsiteY5" fmla="*/ 474475 h 712767"/>
              <a:gd name="connsiteX6" fmla="*/ 1552354 w 1630435"/>
              <a:gd name="connsiteY6" fmla="*/ 612698 h 712767"/>
              <a:gd name="connsiteX7" fmla="*/ 1446028 w 1630435"/>
              <a:gd name="connsiteY7" fmla="*/ 708392 h 712767"/>
              <a:gd name="connsiteX8" fmla="*/ 1105786 w 1630435"/>
              <a:gd name="connsiteY8" fmla="*/ 697759 h 712767"/>
              <a:gd name="connsiteX9" fmla="*/ 159489 w 1630435"/>
              <a:gd name="connsiteY9" fmla="*/ 708392 h 712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30435" h="712767">
                <a:moveTo>
                  <a:pt x="0" y="27908"/>
                </a:moveTo>
                <a:cubicBezTo>
                  <a:pt x="535172" y="5756"/>
                  <a:pt x="1070345" y="-16395"/>
                  <a:pt x="1329070" y="17275"/>
                </a:cubicBezTo>
                <a:cubicBezTo>
                  <a:pt x="1587795" y="50945"/>
                  <a:pt x="1727791" y="187396"/>
                  <a:pt x="1552354" y="229926"/>
                </a:cubicBezTo>
                <a:cubicBezTo>
                  <a:pt x="1376917" y="272456"/>
                  <a:pt x="520996" y="231699"/>
                  <a:pt x="276447" y="272457"/>
                </a:cubicBezTo>
                <a:cubicBezTo>
                  <a:pt x="31898" y="313215"/>
                  <a:pt x="-92148" y="440805"/>
                  <a:pt x="85061" y="474475"/>
                </a:cubicBezTo>
                <a:cubicBezTo>
                  <a:pt x="262270" y="508145"/>
                  <a:pt x="1095154" y="451438"/>
                  <a:pt x="1339703" y="474475"/>
                </a:cubicBezTo>
                <a:cubicBezTo>
                  <a:pt x="1584252" y="497512"/>
                  <a:pt x="1534633" y="573712"/>
                  <a:pt x="1552354" y="612698"/>
                </a:cubicBezTo>
                <a:cubicBezTo>
                  <a:pt x="1570075" y="651684"/>
                  <a:pt x="1520456" y="694215"/>
                  <a:pt x="1446028" y="708392"/>
                </a:cubicBezTo>
                <a:cubicBezTo>
                  <a:pt x="1371600" y="722569"/>
                  <a:pt x="1320209" y="697759"/>
                  <a:pt x="1105786" y="697759"/>
                </a:cubicBezTo>
                <a:cubicBezTo>
                  <a:pt x="891363" y="697759"/>
                  <a:pt x="525426" y="703075"/>
                  <a:pt x="159489" y="708392"/>
                </a:cubicBezTo>
              </a:path>
            </a:pathLst>
          </a:cu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  <a:ex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42302" y="1700743"/>
            <a:ext cx="2247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Radar double bounce </a:t>
            </a: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 bwMode="auto">
          <a:xfrm flipV="1">
            <a:off x="4438208" y="2813405"/>
            <a:ext cx="4166240" cy="451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V="1">
            <a:off x="5850747" y="2833266"/>
            <a:ext cx="1618969" cy="1404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Oval 26"/>
          <p:cNvSpPr/>
          <p:nvPr/>
        </p:nvSpPr>
        <p:spPr bwMode="auto">
          <a:xfrm>
            <a:off x="5800424" y="2757821"/>
            <a:ext cx="120317" cy="13781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1" name="Oval 30"/>
          <p:cNvSpPr/>
          <p:nvPr/>
        </p:nvSpPr>
        <p:spPr bwMode="auto">
          <a:xfrm>
            <a:off x="7399722" y="2758562"/>
            <a:ext cx="120317" cy="13781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517379" y="2402959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Dmin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7196326" y="2374373"/>
            <a:ext cx="719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Dmax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 bwMode="auto">
          <a:xfrm>
            <a:off x="7831445" y="2742171"/>
            <a:ext cx="120317" cy="137810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6" name="Arrow: Curved Up 35"/>
          <p:cNvSpPr/>
          <p:nvPr/>
        </p:nvSpPr>
        <p:spPr bwMode="auto">
          <a:xfrm flipH="1">
            <a:off x="6156176" y="2924052"/>
            <a:ext cx="1799868" cy="504056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40" name="Oval 39"/>
          <p:cNvSpPr/>
          <p:nvPr/>
        </p:nvSpPr>
        <p:spPr bwMode="auto">
          <a:xfrm>
            <a:off x="6230594" y="2778401"/>
            <a:ext cx="120317" cy="137810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438208" y="2984820"/>
            <a:ext cx="19127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range-rate aliasing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81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1403647" y="557907"/>
            <a:ext cx="5705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Software Architecture of</a:t>
            </a:r>
            <a:r>
              <a:rPr lang="zh-CN" altLang="en-US" sz="2400" dirty="0"/>
              <a:t> </a:t>
            </a:r>
            <a:r>
              <a:rPr lang="en-US" altLang="zh-CN" sz="2400" dirty="0"/>
              <a:t>sensor</a:t>
            </a:r>
            <a:r>
              <a:rPr lang="zh-CN" altLang="en-US" sz="2400" dirty="0"/>
              <a:t> </a:t>
            </a:r>
            <a:r>
              <a:rPr lang="en-US" altLang="zh-CN" sz="2400" dirty="0"/>
              <a:t>fusion</a:t>
            </a:r>
            <a:endParaRPr lang="zh-CN" altLang="en-US" sz="2400" dirty="0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2F7EA759-2B1B-43C4-9CC8-EAB505254AFB}"/>
              </a:ext>
            </a:extLst>
          </p:cNvPr>
          <p:cNvSpPr/>
          <p:nvPr/>
        </p:nvSpPr>
        <p:spPr bwMode="auto">
          <a:xfrm>
            <a:off x="6692462" y="283258"/>
            <a:ext cx="477595" cy="209786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4C516C5-A829-47C9-B814-4D041482DFC6}"/>
              </a:ext>
            </a:extLst>
          </p:cNvPr>
          <p:cNvSpPr txBox="1"/>
          <p:nvPr/>
        </p:nvSpPr>
        <p:spPr>
          <a:xfrm>
            <a:off x="7224985" y="251517"/>
            <a:ext cx="849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22HZ</a:t>
            </a:r>
            <a:endParaRPr lang="zh-CN" altLang="en-US" sz="11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6DE47BE-DDA8-4C8E-9B97-EE3621FD48E7}"/>
              </a:ext>
            </a:extLst>
          </p:cNvPr>
          <p:cNvSpPr/>
          <p:nvPr/>
        </p:nvSpPr>
        <p:spPr bwMode="auto">
          <a:xfrm>
            <a:off x="928064" y="2214091"/>
            <a:ext cx="676096" cy="2019218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Senor</a:t>
            </a:r>
          </a:p>
          <a:p>
            <a:pPr algn="ctr" eaLnBrk="1" hangingPunct="1"/>
            <a:r>
              <a:rPr lang="en-US" altLang="zh-CN" sz="1100" dirty="0"/>
              <a:t>data</a:t>
            </a:r>
          </a:p>
          <a:p>
            <a:pPr algn="ctr" eaLnBrk="1" hangingPunct="1"/>
            <a:r>
              <a:rPr lang="en-US" altLang="zh-CN" sz="1100" dirty="0"/>
              <a:t>adaptor</a:t>
            </a:r>
            <a:endParaRPr lang="zh-CN" altLang="en-US" sz="700" dirty="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F8AE557-0264-485B-8227-40C9D2F147B3}"/>
              </a:ext>
            </a:extLst>
          </p:cNvPr>
          <p:cNvSpPr/>
          <p:nvPr/>
        </p:nvSpPr>
        <p:spPr bwMode="auto">
          <a:xfrm>
            <a:off x="2008184" y="1351748"/>
            <a:ext cx="1152128" cy="2883314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Measurement</a:t>
            </a:r>
          </a:p>
          <a:p>
            <a:pPr algn="ctr" eaLnBrk="1" hangingPunct="1"/>
            <a:r>
              <a:rPr lang="en-US" altLang="zh-CN" sz="1100" dirty="0"/>
              <a:t>time stamp</a:t>
            </a:r>
          </a:p>
          <a:p>
            <a:pPr algn="ctr" eaLnBrk="1" hangingPunct="1"/>
            <a:r>
              <a:rPr lang="en-US" altLang="zh-CN" sz="1100" dirty="0"/>
              <a:t>management</a:t>
            </a:r>
            <a:endParaRPr lang="zh-CN" altLang="en-US" sz="700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0EBECE9-7BA4-4CBB-B7C7-CB4BC529F496}"/>
              </a:ext>
            </a:extLst>
          </p:cNvPr>
          <p:cNvSpPr/>
          <p:nvPr/>
        </p:nvSpPr>
        <p:spPr bwMode="auto">
          <a:xfrm>
            <a:off x="3531363" y="3078187"/>
            <a:ext cx="997101" cy="115512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Association</a:t>
            </a:r>
            <a:endParaRPr lang="zh-CN" altLang="en-US" sz="70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E7DFC8B-F62C-49A9-B766-DF638EE2DE8B}"/>
              </a:ext>
            </a:extLst>
          </p:cNvPr>
          <p:cNvSpPr/>
          <p:nvPr/>
        </p:nvSpPr>
        <p:spPr bwMode="auto">
          <a:xfrm>
            <a:off x="4901107" y="3078187"/>
            <a:ext cx="991228" cy="115512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State update</a:t>
            </a:r>
            <a:endParaRPr lang="zh-CN" altLang="en-US" sz="70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B8665D8-E1B4-4311-87C9-EB6E7B7FECDA}"/>
              </a:ext>
            </a:extLst>
          </p:cNvPr>
          <p:cNvSpPr/>
          <p:nvPr/>
        </p:nvSpPr>
        <p:spPr bwMode="auto">
          <a:xfrm>
            <a:off x="6266704" y="1349995"/>
            <a:ext cx="740417" cy="2883314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Book</a:t>
            </a:r>
          </a:p>
          <a:p>
            <a:pPr algn="ctr" eaLnBrk="1" hangingPunct="1"/>
            <a:r>
              <a:rPr lang="en-US" altLang="zh-CN" sz="1100" dirty="0"/>
              <a:t>Keeping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AA48DE7-66AC-4A9D-A404-9AA6B3332871}"/>
              </a:ext>
            </a:extLst>
          </p:cNvPr>
          <p:cNvSpPr/>
          <p:nvPr/>
        </p:nvSpPr>
        <p:spPr bwMode="auto">
          <a:xfrm>
            <a:off x="3531363" y="1349995"/>
            <a:ext cx="2360972" cy="118813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200" dirty="0"/>
              <a:t>Track management</a:t>
            </a:r>
          </a:p>
          <a:p>
            <a:pPr algn="ctr" eaLnBrk="1" hangingPunct="1"/>
            <a:r>
              <a:rPr lang="en-US" altLang="zh-CN" sz="1200" dirty="0"/>
              <a:t>(Track </a:t>
            </a:r>
            <a:r>
              <a:rPr lang="en-US" altLang="zh-CN" sz="1200" dirty="0" err="1"/>
              <a:t>init.</a:t>
            </a:r>
            <a:r>
              <a:rPr lang="en-US" altLang="zh-CN" sz="1200" dirty="0"/>
              <a:t> included)</a:t>
            </a:r>
            <a:endParaRPr lang="zh-CN" altLang="en-US" sz="800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0FBE1FD-A4F7-4C7F-B800-BE4F5FE2FED4}"/>
              </a:ext>
            </a:extLst>
          </p:cNvPr>
          <p:cNvSpPr/>
          <p:nvPr/>
        </p:nvSpPr>
        <p:spPr bwMode="auto">
          <a:xfrm>
            <a:off x="7398736" y="3006179"/>
            <a:ext cx="936104" cy="1227130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Barrier</a:t>
            </a:r>
          </a:p>
          <a:p>
            <a:pPr algn="ctr" eaLnBrk="1" hangingPunct="1"/>
            <a:r>
              <a:rPr lang="en-US" altLang="zh-CN" sz="1100" dirty="0"/>
              <a:t>estimation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9D834F6-160E-435E-96BA-08B3F5D077AB}"/>
              </a:ext>
            </a:extLst>
          </p:cNvPr>
          <p:cNvSpPr/>
          <p:nvPr/>
        </p:nvSpPr>
        <p:spPr bwMode="auto">
          <a:xfrm>
            <a:off x="7398736" y="1349995"/>
            <a:ext cx="936104" cy="1227130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Confidence assessment</a:t>
            </a: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BA71D232-E97A-44F8-8EFA-8BEDA9AB0C55}"/>
              </a:ext>
            </a:extLst>
          </p:cNvPr>
          <p:cNvCxnSpPr>
            <a:cxnSpLocks/>
          </p:cNvCxnSpPr>
          <p:nvPr/>
        </p:nvCxnSpPr>
        <p:spPr bwMode="auto">
          <a:xfrm>
            <a:off x="395536" y="2718147"/>
            <a:ext cx="532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1B4DEAAE-966A-4E43-AC8E-48197F924AB4}"/>
              </a:ext>
            </a:extLst>
          </p:cNvPr>
          <p:cNvCxnSpPr>
            <a:cxnSpLocks/>
          </p:cNvCxnSpPr>
          <p:nvPr/>
        </p:nvCxnSpPr>
        <p:spPr bwMode="auto">
          <a:xfrm>
            <a:off x="395536" y="3654251"/>
            <a:ext cx="532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5F179419-85C2-4966-9EBF-68BC62BDE9DF}"/>
              </a:ext>
            </a:extLst>
          </p:cNvPr>
          <p:cNvCxnSpPr>
            <a:cxnSpLocks/>
          </p:cNvCxnSpPr>
          <p:nvPr/>
        </p:nvCxnSpPr>
        <p:spPr bwMode="auto">
          <a:xfrm>
            <a:off x="467544" y="1805491"/>
            <a:ext cx="1530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C5D43F42-5E1D-412F-A1D0-34238C102563}"/>
              </a:ext>
            </a:extLst>
          </p:cNvPr>
          <p:cNvCxnSpPr/>
          <p:nvPr/>
        </p:nvCxnSpPr>
        <p:spPr bwMode="auto">
          <a:xfrm>
            <a:off x="1614656" y="3150195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7E57DA10-9C1E-4A37-B09A-C47E56C25149}"/>
              </a:ext>
            </a:extLst>
          </p:cNvPr>
          <p:cNvCxnSpPr>
            <a:cxnSpLocks/>
          </p:cNvCxnSpPr>
          <p:nvPr/>
        </p:nvCxnSpPr>
        <p:spPr bwMode="auto">
          <a:xfrm>
            <a:off x="3160312" y="1926059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D44F9E1E-8DB2-4B9D-8DBB-7DE92E08A879}"/>
              </a:ext>
            </a:extLst>
          </p:cNvPr>
          <p:cNvCxnSpPr>
            <a:cxnSpLocks/>
          </p:cNvCxnSpPr>
          <p:nvPr/>
        </p:nvCxnSpPr>
        <p:spPr bwMode="auto">
          <a:xfrm>
            <a:off x="3160312" y="3642653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40B6FD4F-2C77-4671-BA94-498B80275E7D}"/>
              </a:ext>
            </a:extLst>
          </p:cNvPr>
          <p:cNvCxnSpPr>
            <a:cxnSpLocks/>
          </p:cNvCxnSpPr>
          <p:nvPr/>
        </p:nvCxnSpPr>
        <p:spPr bwMode="auto">
          <a:xfrm>
            <a:off x="4530056" y="3654251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F4A517FF-8F7D-40CB-A9B8-8058FACDDC8C}"/>
              </a:ext>
            </a:extLst>
          </p:cNvPr>
          <p:cNvCxnSpPr>
            <a:cxnSpLocks/>
          </p:cNvCxnSpPr>
          <p:nvPr/>
        </p:nvCxnSpPr>
        <p:spPr bwMode="auto">
          <a:xfrm>
            <a:off x="5892335" y="1937908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36076E4C-4FCD-42DF-97E8-3356ACBC1278}"/>
              </a:ext>
            </a:extLst>
          </p:cNvPr>
          <p:cNvCxnSpPr>
            <a:cxnSpLocks/>
          </p:cNvCxnSpPr>
          <p:nvPr/>
        </p:nvCxnSpPr>
        <p:spPr bwMode="auto">
          <a:xfrm>
            <a:off x="7016667" y="1942993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0BE59866-F58B-4FD3-9FCC-EB5A43D21E1E}"/>
              </a:ext>
            </a:extLst>
          </p:cNvPr>
          <p:cNvCxnSpPr>
            <a:cxnSpLocks/>
          </p:cNvCxnSpPr>
          <p:nvPr/>
        </p:nvCxnSpPr>
        <p:spPr bwMode="auto">
          <a:xfrm>
            <a:off x="7021691" y="3677701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33F4EE9A-E4DB-4649-A798-E4FD15F3EB14}"/>
              </a:ext>
            </a:extLst>
          </p:cNvPr>
          <p:cNvCxnSpPr>
            <a:cxnSpLocks/>
            <a:stCxn id="78" idx="0"/>
          </p:cNvCxnSpPr>
          <p:nvPr/>
        </p:nvCxnSpPr>
        <p:spPr bwMode="auto">
          <a:xfrm flipV="1">
            <a:off x="5396721" y="2538127"/>
            <a:ext cx="0" cy="540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5E891B06-BF06-4460-A043-AF99B8124ABB}"/>
              </a:ext>
            </a:extLst>
          </p:cNvPr>
          <p:cNvCxnSpPr>
            <a:cxnSpLocks/>
            <a:endCxn id="76" idx="0"/>
          </p:cNvCxnSpPr>
          <p:nvPr/>
        </p:nvCxnSpPr>
        <p:spPr bwMode="auto">
          <a:xfrm>
            <a:off x="4029914" y="2538127"/>
            <a:ext cx="0" cy="540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BC64E6FB-3957-4C6D-9634-522DED344DA9}"/>
              </a:ext>
            </a:extLst>
          </p:cNvPr>
          <p:cNvCxnSpPr/>
          <p:nvPr/>
        </p:nvCxnSpPr>
        <p:spPr bwMode="auto">
          <a:xfrm>
            <a:off x="8334840" y="1963560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2FD92314-C8BD-41DB-A88D-F350123CF99C}"/>
              </a:ext>
            </a:extLst>
          </p:cNvPr>
          <p:cNvCxnSpPr/>
          <p:nvPr/>
        </p:nvCxnSpPr>
        <p:spPr bwMode="auto">
          <a:xfrm>
            <a:off x="8339864" y="3677701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68B6CBB-1438-4557-B881-611449D09EBC}"/>
              </a:ext>
            </a:extLst>
          </p:cNvPr>
          <p:cNvSpPr txBox="1"/>
          <p:nvPr/>
        </p:nvSpPr>
        <p:spPr>
          <a:xfrm>
            <a:off x="315101" y="1543881"/>
            <a:ext cx="944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Ego Motion</a:t>
            </a:r>
            <a:endParaRPr lang="zh-CN" altLang="en-US" sz="11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72A6E25C-7DEE-4A99-926B-C68CA91B2344}"/>
              </a:ext>
            </a:extLst>
          </p:cNvPr>
          <p:cNvSpPr txBox="1"/>
          <p:nvPr/>
        </p:nvSpPr>
        <p:spPr>
          <a:xfrm>
            <a:off x="220690" y="2502703"/>
            <a:ext cx="9445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Vision Detection</a:t>
            </a:r>
            <a:endParaRPr lang="zh-CN" altLang="en-US" sz="11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96F8699-D7CC-4083-BA4B-0F0B385DBB97}"/>
              </a:ext>
            </a:extLst>
          </p:cNvPr>
          <p:cNvSpPr txBox="1"/>
          <p:nvPr/>
        </p:nvSpPr>
        <p:spPr>
          <a:xfrm>
            <a:off x="217955" y="3438227"/>
            <a:ext cx="9445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Radar Detection</a:t>
            </a:r>
            <a:endParaRPr lang="zh-CN" altLang="en-US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873D20-039F-4A14-8941-F8BD9F2A07F3}"/>
              </a:ext>
            </a:extLst>
          </p:cNvPr>
          <p:cNvSpPr/>
          <p:nvPr/>
        </p:nvSpPr>
        <p:spPr bwMode="auto">
          <a:xfrm>
            <a:off x="1909794" y="1196507"/>
            <a:ext cx="1352345" cy="3177823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1290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1907704" y="0"/>
            <a:ext cx="5760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2400" dirty="0"/>
              <a:t>Measurement time stamp management</a:t>
            </a:r>
            <a:endParaRPr lang="zh-CN" altLang="en-US" sz="8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B3A4B1-DC1D-426F-AE3A-C4F0FAB3D8B6}"/>
              </a:ext>
            </a:extLst>
          </p:cNvPr>
          <p:cNvSpPr/>
          <p:nvPr/>
        </p:nvSpPr>
        <p:spPr>
          <a:xfrm>
            <a:off x="323528" y="629915"/>
            <a:ext cx="3168352" cy="3055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Timestamp sanity check. Comparing with previous timestamp, see if current timestamp is correct, otherwise issue a system fault.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Predict the existing fusion track to current timestamp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Predict radar/vision input to current timestamp</a:t>
            </a:r>
            <a:endParaRPr lang="zh-CN" altLang="zh-CN" sz="18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8" descr="blue_car">
            <a:extLst/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36825">
            <a:off x="7460292" y="1908686"/>
            <a:ext cx="701946" cy="1521974"/>
          </a:xfrm>
          <a:prstGeom prst="rect">
            <a:avLst/>
          </a:prstGeom>
          <a:noFill/>
          <a:ln>
            <a:noFill/>
          </a:ln>
          <a:extLst/>
        </p:spPr>
      </p:pic>
      <p:pic>
        <p:nvPicPr>
          <p:cNvPr id="6" name="Picture 17" descr="blue_car">
            <a:extLst/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5E8496"/>
              </a:clrFrom>
              <a:clrTo>
                <a:srgbClr val="5E849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727460">
            <a:off x="4967032" y="2237364"/>
            <a:ext cx="653086" cy="1416035"/>
          </a:xfrm>
          <a:prstGeom prst="rect">
            <a:avLst/>
          </a:prstGeom>
          <a:noFill/>
          <a:ln>
            <a:noFill/>
          </a:ln>
          <a:extLst/>
        </p:spPr>
      </p:pic>
      <p:cxnSp>
        <p:nvCxnSpPr>
          <p:cNvPr id="13" name="Straight Arrow Connector 12"/>
          <p:cNvCxnSpPr>
            <a:stCxn id="6" idx="2"/>
            <a:endCxn id="5" idx="2"/>
          </p:cNvCxnSpPr>
          <p:nvPr/>
        </p:nvCxnSpPr>
        <p:spPr bwMode="auto">
          <a:xfrm flipV="1">
            <a:off x="4667713" y="2705780"/>
            <a:ext cx="2383422" cy="570638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88024" y="621587"/>
            <a:ext cx="237327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Predict the track by </a:t>
            </a:r>
          </a:p>
          <a:p>
            <a:pPr marL="342900" indent="-342900">
              <a:buAutoNum type="arabicPeriod"/>
            </a:pPr>
            <a:r>
              <a:rPr lang="en-US" altLang="zh-CN" dirty="0"/>
              <a:t>The delta time </a:t>
            </a:r>
            <a:r>
              <a:rPr lang="en-US" altLang="zh-CN" dirty="0" err="1"/>
              <a:t>dT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Velocity estimate</a:t>
            </a:r>
          </a:p>
          <a:p>
            <a:pPr marL="342900" indent="-342900">
              <a:buAutoNum type="arabicPeriod"/>
            </a:pPr>
            <a:r>
              <a:rPr lang="en-US" altLang="zh-CN" dirty="0"/>
              <a:t>Yaw-rate estimate</a:t>
            </a:r>
            <a:endParaRPr lang="zh-CN" altLang="en-US" dirty="0"/>
          </a:p>
        </p:txBody>
      </p:sp>
      <p:cxnSp>
        <p:nvCxnSpPr>
          <p:cNvPr id="26" name="Straight Arrow Connector 25"/>
          <p:cNvCxnSpPr/>
          <p:nvPr/>
        </p:nvCxnSpPr>
        <p:spPr bwMode="auto">
          <a:xfrm>
            <a:off x="971600" y="3982662"/>
            <a:ext cx="770485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Arrow Connector 27"/>
          <p:cNvCxnSpPr/>
          <p:nvPr/>
        </p:nvCxnSpPr>
        <p:spPr bwMode="auto">
          <a:xfrm>
            <a:off x="971600" y="4486718"/>
            <a:ext cx="770485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971600" y="4918766"/>
            <a:ext cx="770485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Rectangle 29"/>
          <p:cNvSpPr/>
          <p:nvPr/>
        </p:nvSpPr>
        <p:spPr>
          <a:xfrm>
            <a:off x="8167173" y="3510235"/>
            <a:ext cx="808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Vision</a:t>
            </a:r>
            <a:endParaRPr lang="zh-CN" altLang="en-US" dirty="0"/>
          </a:p>
        </p:txBody>
      </p:sp>
      <p:sp>
        <p:nvSpPr>
          <p:cNvPr id="31" name="Rectangle 30"/>
          <p:cNvSpPr/>
          <p:nvPr/>
        </p:nvSpPr>
        <p:spPr>
          <a:xfrm>
            <a:off x="8165090" y="4074610"/>
            <a:ext cx="813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Radar</a:t>
            </a:r>
            <a:endParaRPr lang="zh-CN" altLang="en-US" dirty="0"/>
          </a:p>
        </p:txBody>
      </p:sp>
      <p:sp>
        <p:nvSpPr>
          <p:cNvPr id="32" name="Rectangle 31"/>
          <p:cNvSpPr/>
          <p:nvPr/>
        </p:nvSpPr>
        <p:spPr>
          <a:xfrm>
            <a:off x="8165090" y="4578665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Fusion</a:t>
            </a:r>
            <a:endParaRPr lang="zh-CN" altLang="en-US" dirty="0"/>
          </a:p>
        </p:txBody>
      </p:sp>
      <p:cxnSp>
        <p:nvCxnSpPr>
          <p:cNvPr id="33" name="Straight Connector 32"/>
          <p:cNvCxnSpPr/>
          <p:nvPr/>
        </p:nvCxnSpPr>
        <p:spPr bwMode="auto">
          <a:xfrm>
            <a:off x="1331640" y="3736343"/>
            <a:ext cx="0" cy="492638"/>
          </a:xfrm>
          <a:prstGeom prst="line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 bwMode="auto">
          <a:xfrm>
            <a:off x="3347864" y="3736343"/>
            <a:ext cx="0" cy="492638"/>
          </a:xfrm>
          <a:prstGeom prst="line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 bwMode="auto">
          <a:xfrm>
            <a:off x="5292080" y="3762129"/>
            <a:ext cx="0" cy="492638"/>
          </a:xfrm>
          <a:prstGeom prst="line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 bwMode="auto">
          <a:xfrm>
            <a:off x="7308304" y="3762129"/>
            <a:ext cx="0" cy="492638"/>
          </a:xfrm>
          <a:prstGeom prst="line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 bwMode="auto">
          <a:xfrm>
            <a:off x="1321618" y="4592597"/>
            <a:ext cx="0" cy="492638"/>
          </a:xfrm>
          <a:prstGeom prst="line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 bwMode="auto">
          <a:xfrm>
            <a:off x="3337842" y="4592597"/>
            <a:ext cx="0" cy="492638"/>
          </a:xfrm>
          <a:prstGeom prst="line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 bwMode="auto">
          <a:xfrm>
            <a:off x="5282058" y="4618383"/>
            <a:ext cx="0" cy="492638"/>
          </a:xfrm>
          <a:prstGeom prst="line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 bwMode="auto">
          <a:xfrm>
            <a:off x="7298282" y="4618383"/>
            <a:ext cx="0" cy="492638"/>
          </a:xfrm>
          <a:prstGeom prst="line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 bwMode="auto">
          <a:xfrm>
            <a:off x="1043608" y="4254767"/>
            <a:ext cx="0" cy="508564"/>
          </a:xfrm>
          <a:prstGeom prst="lin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 bwMode="auto">
          <a:xfrm>
            <a:off x="2915816" y="4254767"/>
            <a:ext cx="0" cy="508564"/>
          </a:xfrm>
          <a:prstGeom prst="lin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 bwMode="auto">
          <a:xfrm>
            <a:off x="5574262" y="4232436"/>
            <a:ext cx="0" cy="508564"/>
          </a:xfrm>
          <a:prstGeom prst="lin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 bwMode="auto">
          <a:xfrm>
            <a:off x="1043608" y="4741000"/>
            <a:ext cx="27801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Straight Arrow Connector 48"/>
          <p:cNvCxnSpPr/>
          <p:nvPr/>
        </p:nvCxnSpPr>
        <p:spPr bwMode="auto">
          <a:xfrm>
            <a:off x="2915816" y="4741000"/>
            <a:ext cx="4220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Straight Arrow Connector 50"/>
          <p:cNvCxnSpPr/>
          <p:nvPr/>
        </p:nvCxnSpPr>
        <p:spPr bwMode="auto">
          <a:xfrm>
            <a:off x="5571992" y="4741000"/>
            <a:ext cx="173631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Rectangle 33"/>
          <p:cNvSpPr/>
          <p:nvPr/>
        </p:nvSpPr>
        <p:spPr>
          <a:xfrm>
            <a:off x="3855334" y="2456103"/>
            <a:ext cx="1197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Posn</a:t>
            </a:r>
            <a:r>
              <a:rPr lang="en-US" altLang="zh-CN" dirty="0"/>
              <a:t>(T-1)</a:t>
            </a:r>
            <a:endParaRPr lang="zh-CN" altLang="en-US" dirty="0"/>
          </a:p>
        </p:txBody>
      </p:sp>
      <p:sp>
        <p:nvSpPr>
          <p:cNvPr id="35" name="Rectangle 34"/>
          <p:cNvSpPr/>
          <p:nvPr/>
        </p:nvSpPr>
        <p:spPr>
          <a:xfrm>
            <a:off x="6337796" y="2983808"/>
            <a:ext cx="29635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Posn</a:t>
            </a:r>
            <a:r>
              <a:rPr lang="en-US" altLang="zh-CN" dirty="0"/>
              <a:t>(T) =</a:t>
            </a:r>
            <a:r>
              <a:rPr lang="en-US" altLang="zh-CN" dirty="0" err="1"/>
              <a:t>Posn</a:t>
            </a:r>
            <a:r>
              <a:rPr lang="en-US" altLang="zh-CN" dirty="0"/>
              <a:t>(T-1)+</a:t>
            </a:r>
            <a:r>
              <a:rPr lang="en-US" altLang="zh-CN" dirty="0" err="1"/>
              <a:t>dT</a:t>
            </a:r>
            <a:r>
              <a:rPr lang="en-US" altLang="zh-CN" dirty="0"/>
              <a:t>*V </a:t>
            </a:r>
            <a:endParaRPr lang="zh-CN" altLang="en-US" dirty="0"/>
          </a:p>
        </p:txBody>
      </p:sp>
      <p:sp>
        <p:nvSpPr>
          <p:cNvPr id="48" name="Oval 47"/>
          <p:cNvSpPr/>
          <p:nvPr/>
        </p:nvSpPr>
        <p:spPr bwMode="auto">
          <a:xfrm>
            <a:off x="4604149" y="3230415"/>
            <a:ext cx="127127" cy="12123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0" name="Oval 49"/>
          <p:cNvSpPr/>
          <p:nvPr/>
        </p:nvSpPr>
        <p:spPr bwMode="auto">
          <a:xfrm>
            <a:off x="7028258" y="2623774"/>
            <a:ext cx="127127" cy="12123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8262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">
            <a:extLst/>
          </p:cNvPr>
          <p:cNvSpPr/>
          <p:nvPr/>
        </p:nvSpPr>
        <p:spPr>
          <a:xfrm>
            <a:off x="395536" y="629915"/>
            <a:ext cx="3600400" cy="1619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Input: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Fusion object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Vision track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Radar track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Fusion system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Host vehicle motion</a:t>
            </a:r>
          </a:p>
        </p:txBody>
      </p:sp>
      <p:sp>
        <p:nvSpPr>
          <p:cNvPr id="13" name="矩形 1">
            <a:extLst/>
          </p:cNvPr>
          <p:cNvSpPr/>
          <p:nvPr/>
        </p:nvSpPr>
        <p:spPr>
          <a:xfrm>
            <a:off x="423697" y="2277752"/>
            <a:ext cx="3600400" cy="1127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Output: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Fusion object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Fusion system structure</a:t>
            </a:r>
          </a:p>
          <a:p>
            <a:pPr lvl="1"/>
            <a:endParaRPr lang="en-US" altLang="zh-CN" sz="1600" dirty="0"/>
          </a:p>
        </p:txBody>
      </p:sp>
      <p:sp>
        <p:nvSpPr>
          <p:cNvPr id="5" name="文本框 154">
            <a:extLst/>
          </p:cNvPr>
          <p:cNvSpPr txBox="1"/>
          <p:nvPr/>
        </p:nvSpPr>
        <p:spPr>
          <a:xfrm>
            <a:off x="1259632" y="0"/>
            <a:ext cx="8568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2400" dirty="0"/>
              <a:t>Measurement time stamp management, continued</a:t>
            </a:r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1961956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1403647" y="557907"/>
            <a:ext cx="5705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Software Architecture of</a:t>
            </a:r>
            <a:r>
              <a:rPr lang="zh-CN" altLang="en-US" sz="2400" dirty="0"/>
              <a:t> </a:t>
            </a:r>
            <a:r>
              <a:rPr lang="en-US" altLang="zh-CN" sz="2400" dirty="0"/>
              <a:t>sensor</a:t>
            </a:r>
            <a:r>
              <a:rPr lang="zh-CN" altLang="en-US" sz="2400" dirty="0"/>
              <a:t> </a:t>
            </a:r>
            <a:r>
              <a:rPr lang="en-US" altLang="zh-CN" sz="2400" dirty="0"/>
              <a:t>fusion</a:t>
            </a:r>
            <a:endParaRPr lang="zh-CN" altLang="en-US" sz="2400" dirty="0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2F7EA759-2B1B-43C4-9CC8-EAB505254AFB}"/>
              </a:ext>
            </a:extLst>
          </p:cNvPr>
          <p:cNvSpPr/>
          <p:nvPr/>
        </p:nvSpPr>
        <p:spPr bwMode="auto">
          <a:xfrm>
            <a:off x="6692462" y="283258"/>
            <a:ext cx="477595" cy="209786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4C516C5-A829-47C9-B814-4D041482DFC6}"/>
              </a:ext>
            </a:extLst>
          </p:cNvPr>
          <p:cNvSpPr txBox="1"/>
          <p:nvPr/>
        </p:nvSpPr>
        <p:spPr>
          <a:xfrm>
            <a:off x="7224985" y="251517"/>
            <a:ext cx="849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22HZ</a:t>
            </a:r>
            <a:endParaRPr lang="zh-CN" altLang="en-US" sz="11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6DE47BE-DDA8-4C8E-9B97-EE3621FD48E7}"/>
              </a:ext>
            </a:extLst>
          </p:cNvPr>
          <p:cNvSpPr/>
          <p:nvPr/>
        </p:nvSpPr>
        <p:spPr bwMode="auto">
          <a:xfrm>
            <a:off x="928064" y="2214091"/>
            <a:ext cx="676096" cy="2019218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Senor</a:t>
            </a:r>
          </a:p>
          <a:p>
            <a:pPr algn="ctr" eaLnBrk="1" hangingPunct="1"/>
            <a:r>
              <a:rPr lang="en-US" altLang="zh-CN" sz="1100" dirty="0"/>
              <a:t>data</a:t>
            </a:r>
          </a:p>
          <a:p>
            <a:pPr algn="ctr" eaLnBrk="1" hangingPunct="1"/>
            <a:r>
              <a:rPr lang="en-US" altLang="zh-CN" sz="1100" dirty="0"/>
              <a:t>adaptor</a:t>
            </a:r>
            <a:endParaRPr lang="zh-CN" altLang="en-US" sz="700" dirty="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F8AE557-0264-485B-8227-40C9D2F147B3}"/>
              </a:ext>
            </a:extLst>
          </p:cNvPr>
          <p:cNvSpPr/>
          <p:nvPr/>
        </p:nvSpPr>
        <p:spPr bwMode="auto">
          <a:xfrm>
            <a:off x="2008184" y="1351748"/>
            <a:ext cx="1152128" cy="2883314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Measurement</a:t>
            </a:r>
          </a:p>
          <a:p>
            <a:pPr algn="ctr" eaLnBrk="1" hangingPunct="1"/>
            <a:r>
              <a:rPr lang="en-US" altLang="zh-CN" sz="1100" dirty="0"/>
              <a:t>time stamp</a:t>
            </a:r>
          </a:p>
          <a:p>
            <a:pPr algn="ctr" eaLnBrk="1" hangingPunct="1"/>
            <a:r>
              <a:rPr lang="en-US" altLang="zh-CN" sz="1100" dirty="0"/>
              <a:t>management</a:t>
            </a:r>
            <a:endParaRPr lang="zh-CN" altLang="en-US" sz="700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0EBECE9-7BA4-4CBB-B7C7-CB4BC529F496}"/>
              </a:ext>
            </a:extLst>
          </p:cNvPr>
          <p:cNvSpPr/>
          <p:nvPr/>
        </p:nvSpPr>
        <p:spPr bwMode="auto">
          <a:xfrm>
            <a:off x="3531363" y="3078187"/>
            <a:ext cx="997101" cy="115512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Association</a:t>
            </a:r>
            <a:endParaRPr lang="zh-CN" altLang="en-US" sz="70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E7DFC8B-F62C-49A9-B766-DF638EE2DE8B}"/>
              </a:ext>
            </a:extLst>
          </p:cNvPr>
          <p:cNvSpPr/>
          <p:nvPr/>
        </p:nvSpPr>
        <p:spPr bwMode="auto">
          <a:xfrm>
            <a:off x="4901107" y="3078187"/>
            <a:ext cx="991228" cy="115512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State update</a:t>
            </a:r>
            <a:endParaRPr lang="zh-CN" altLang="en-US" sz="70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B8665D8-E1B4-4311-87C9-EB6E7B7FECDA}"/>
              </a:ext>
            </a:extLst>
          </p:cNvPr>
          <p:cNvSpPr/>
          <p:nvPr/>
        </p:nvSpPr>
        <p:spPr bwMode="auto">
          <a:xfrm>
            <a:off x="6266704" y="1349995"/>
            <a:ext cx="740417" cy="2883314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Book</a:t>
            </a:r>
          </a:p>
          <a:p>
            <a:pPr algn="ctr" eaLnBrk="1" hangingPunct="1"/>
            <a:r>
              <a:rPr lang="en-US" altLang="zh-CN" sz="1100" dirty="0"/>
              <a:t>Keeping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AA48DE7-66AC-4A9D-A404-9AA6B3332871}"/>
              </a:ext>
            </a:extLst>
          </p:cNvPr>
          <p:cNvSpPr/>
          <p:nvPr/>
        </p:nvSpPr>
        <p:spPr bwMode="auto">
          <a:xfrm>
            <a:off x="3531363" y="1349995"/>
            <a:ext cx="2360972" cy="118813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200" dirty="0"/>
              <a:t>Track management</a:t>
            </a:r>
          </a:p>
          <a:p>
            <a:pPr algn="ctr" eaLnBrk="1" hangingPunct="1"/>
            <a:r>
              <a:rPr lang="en-US" altLang="zh-CN" sz="1200" dirty="0"/>
              <a:t>(Track </a:t>
            </a:r>
            <a:r>
              <a:rPr lang="en-US" altLang="zh-CN" sz="1200" dirty="0" err="1"/>
              <a:t>init.</a:t>
            </a:r>
            <a:r>
              <a:rPr lang="en-US" altLang="zh-CN" sz="1200" dirty="0"/>
              <a:t> included)</a:t>
            </a:r>
            <a:endParaRPr lang="zh-CN" altLang="en-US" sz="800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0FBE1FD-A4F7-4C7F-B800-BE4F5FE2FED4}"/>
              </a:ext>
            </a:extLst>
          </p:cNvPr>
          <p:cNvSpPr/>
          <p:nvPr/>
        </p:nvSpPr>
        <p:spPr bwMode="auto">
          <a:xfrm>
            <a:off x="7398736" y="3006179"/>
            <a:ext cx="936104" cy="1227130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Barrier</a:t>
            </a:r>
          </a:p>
          <a:p>
            <a:pPr algn="ctr" eaLnBrk="1" hangingPunct="1"/>
            <a:r>
              <a:rPr lang="en-US" altLang="zh-CN" sz="1100" dirty="0"/>
              <a:t>estimation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9D834F6-160E-435E-96BA-08B3F5D077AB}"/>
              </a:ext>
            </a:extLst>
          </p:cNvPr>
          <p:cNvSpPr/>
          <p:nvPr/>
        </p:nvSpPr>
        <p:spPr bwMode="auto">
          <a:xfrm>
            <a:off x="7398736" y="1349995"/>
            <a:ext cx="936104" cy="1227130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Confidence assessment</a:t>
            </a: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BA71D232-E97A-44F8-8EFA-8BEDA9AB0C55}"/>
              </a:ext>
            </a:extLst>
          </p:cNvPr>
          <p:cNvCxnSpPr>
            <a:cxnSpLocks/>
          </p:cNvCxnSpPr>
          <p:nvPr/>
        </p:nvCxnSpPr>
        <p:spPr bwMode="auto">
          <a:xfrm>
            <a:off x="395536" y="2718147"/>
            <a:ext cx="532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1B4DEAAE-966A-4E43-AC8E-48197F924AB4}"/>
              </a:ext>
            </a:extLst>
          </p:cNvPr>
          <p:cNvCxnSpPr>
            <a:cxnSpLocks/>
          </p:cNvCxnSpPr>
          <p:nvPr/>
        </p:nvCxnSpPr>
        <p:spPr bwMode="auto">
          <a:xfrm>
            <a:off x="395536" y="3654251"/>
            <a:ext cx="532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5F179419-85C2-4966-9EBF-68BC62BDE9DF}"/>
              </a:ext>
            </a:extLst>
          </p:cNvPr>
          <p:cNvCxnSpPr>
            <a:cxnSpLocks/>
          </p:cNvCxnSpPr>
          <p:nvPr/>
        </p:nvCxnSpPr>
        <p:spPr bwMode="auto">
          <a:xfrm>
            <a:off x="467544" y="1805491"/>
            <a:ext cx="1530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C5D43F42-5E1D-412F-A1D0-34238C102563}"/>
              </a:ext>
            </a:extLst>
          </p:cNvPr>
          <p:cNvCxnSpPr/>
          <p:nvPr/>
        </p:nvCxnSpPr>
        <p:spPr bwMode="auto">
          <a:xfrm>
            <a:off x="1614656" y="3150195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7E57DA10-9C1E-4A37-B09A-C47E56C25149}"/>
              </a:ext>
            </a:extLst>
          </p:cNvPr>
          <p:cNvCxnSpPr>
            <a:cxnSpLocks/>
          </p:cNvCxnSpPr>
          <p:nvPr/>
        </p:nvCxnSpPr>
        <p:spPr bwMode="auto">
          <a:xfrm>
            <a:off x="3160312" y="1926059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D44F9E1E-8DB2-4B9D-8DBB-7DE92E08A879}"/>
              </a:ext>
            </a:extLst>
          </p:cNvPr>
          <p:cNvCxnSpPr>
            <a:cxnSpLocks/>
          </p:cNvCxnSpPr>
          <p:nvPr/>
        </p:nvCxnSpPr>
        <p:spPr bwMode="auto">
          <a:xfrm>
            <a:off x="3160312" y="3642653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40B6FD4F-2C77-4671-BA94-498B80275E7D}"/>
              </a:ext>
            </a:extLst>
          </p:cNvPr>
          <p:cNvCxnSpPr>
            <a:cxnSpLocks/>
          </p:cNvCxnSpPr>
          <p:nvPr/>
        </p:nvCxnSpPr>
        <p:spPr bwMode="auto">
          <a:xfrm>
            <a:off x="4530056" y="3654251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F4A517FF-8F7D-40CB-A9B8-8058FACDDC8C}"/>
              </a:ext>
            </a:extLst>
          </p:cNvPr>
          <p:cNvCxnSpPr>
            <a:cxnSpLocks/>
          </p:cNvCxnSpPr>
          <p:nvPr/>
        </p:nvCxnSpPr>
        <p:spPr bwMode="auto">
          <a:xfrm>
            <a:off x="5892335" y="1937908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36076E4C-4FCD-42DF-97E8-3356ACBC1278}"/>
              </a:ext>
            </a:extLst>
          </p:cNvPr>
          <p:cNvCxnSpPr>
            <a:cxnSpLocks/>
          </p:cNvCxnSpPr>
          <p:nvPr/>
        </p:nvCxnSpPr>
        <p:spPr bwMode="auto">
          <a:xfrm>
            <a:off x="7016667" y="1942993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0BE59866-F58B-4FD3-9FCC-EB5A43D21E1E}"/>
              </a:ext>
            </a:extLst>
          </p:cNvPr>
          <p:cNvCxnSpPr>
            <a:cxnSpLocks/>
          </p:cNvCxnSpPr>
          <p:nvPr/>
        </p:nvCxnSpPr>
        <p:spPr bwMode="auto">
          <a:xfrm>
            <a:off x="7021691" y="3677701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33F4EE9A-E4DB-4649-A798-E4FD15F3EB14}"/>
              </a:ext>
            </a:extLst>
          </p:cNvPr>
          <p:cNvCxnSpPr>
            <a:cxnSpLocks/>
            <a:stCxn id="78" idx="0"/>
          </p:cNvCxnSpPr>
          <p:nvPr/>
        </p:nvCxnSpPr>
        <p:spPr bwMode="auto">
          <a:xfrm flipV="1">
            <a:off x="5396721" y="2538127"/>
            <a:ext cx="0" cy="540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5E891B06-BF06-4460-A043-AF99B8124ABB}"/>
              </a:ext>
            </a:extLst>
          </p:cNvPr>
          <p:cNvCxnSpPr>
            <a:cxnSpLocks/>
            <a:endCxn id="76" idx="0"/>
          </p:cNvCxnSpPr>
          <p:nvPr/>
        </p:nvCxnSpPr>
        <p:spPr bwMode="auto">
          <a:xfrm>
            <a:off x="4029914" y="2538127"/>
            <a:ext cx="0" cy="540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BC64E6FB-3957-4C6D-9634-522DED344DA9}"/>
              </a:ext>
            </a:extLst>
          </p:cNvPr>
          <p:cNvCxnSpPr/>
          <p:nvPr/>
        </p:nvCxnSpPr>
        <p:spPr bwMode="auto">
          <a:xfrm>
            <a:off x="8334840" y="1963560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2FD92314-C8BD-41DB-A88D-F350123CF99C}"/>
              </a:ext>
            </a:extLst>
          </p:cNvPr>
          <p:cNvCxnSpPr/>
          <p:nvPr/>
        </p:nvCxnSpPr>
        <p:spPr bwMode="auto">
          <a:xfrm>
            <a:off x="8339864" y="3677701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68B6CBB-1438-4557-B881-611449D09EBC}"/>
              </a:ext>
            </a:extLst>
          </p:cNvPr>
          <p:cNvSpPr txBox="1"/>
          <p:nvPr/>
        </p:nvSpPr>
        <p:spPr>
          <a:xfrm>
            <a:off x="315101" y="1543881"/>
            <a:ext cx="944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Ego Motion</a:t>
            </a:r>
            <a:endParaRPr lang="zh-CN" altLang="en-US" sz="11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72A6E25C-7DEE-4A99-926B-C68CA91B2344}"/>
              </a:ext>
            </a:extLst>
          </p:cNvPr>
          <p:cNvSpPr txBox="1"/>
          <p:nvPr/>
        </p:nvSpPr>
        <p:spPr>
          <a:xfrm>
            <a:off x="220690" y="2502703"/>
            <a:ext cx="9445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Vision Detection</a:t>
            </a:r>
            <a:endParaRPr lang="zh-CN" altLang="en-US" sz="11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96F8699-D7CC-4083-BA4B-0F0B385DBB97}"/>
              </a:ext>
            </a:extLst>
          </p:cNvPr>
          <p:cNvSpPr txBox="1"/>
          <p:nvPr/>
        </p:nvSpPr>
        <p:spPr>
          <a:xfrm>
            <a:off x="217955" y="3438227"/>
            <a:ext cx="9445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Radar Detection</a:t>
            </a:r>
            <a:endParaRPr lang="zh-CN" altLang="en-US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873D20-039F-4A14-8941-F8BD9F2A07F3}"/>
              </a:ext>
            </a:extLst>
          </p:cNvPr>
          <p:cNvSpPr/>
          <p:nvPr/>
        </p:nvSpPr>
        <p:spPr bwMode="auto">
          <a:xfrm>
            <a:off x="3406060" y="2968556"/>
            <a:ext cx="1277432" cy="1405776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011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1619672" y="0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2400" dirty="0"/>
              <a:t>Track to track association</a:t>
            </a:r>
            <a:endParaRPr lang="zh-CN" altLang="en-US" sz="8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B3A4B1-DC1D-426F-AE3A-C4F0FAB3D8B6}"/>
              </a:ext>
            </a:extLst>
          </p:cNvPr>
          <p:cNvSpPr/>
          <p:nvPr/>
        </p:nvSpPr>
        <p:spPr>
          <a:xfrm>
            <a:off x="323528" y="610482"/>
            <a:ext cx="4464496" cy="4834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Association between radar tracks and vision tracks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For each vision track, we could associate multiple radar tracks to it.</a:t>
            </a:r>
          </a:p>
          <a:p>
            <a:pPr marL="648721" lvl="1" indent="-285750">
              <a:lnSpc>
                <a:spcPct val="107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Position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48721" lvl="1" indent="-285750">
              <a:lnSpc>
                <a:spcPct val="107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Velocity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48721" lvl="1" indent="-285750">
              <a:lnSpc>
                <a:spcPct val="107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TTC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48721" lvl="1" indent="-285750">
              <a:lnSpc>
                <a:spcPct val="107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Previous association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If the probability of some previous association dropped too low, they will be split up.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For each vision track, a list of association probabilities of radar tracks is maintained.  Radar tracks with probability high enough will be associated to the vision.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0"/>
              </a:spcAft>
            </a:pPr>
            <a:endParaRPr lang="zh-CN" altLang="zh-CN" sz="18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Star: 4 Points 3"/>
          <p:cNvSpPr/>
          <p:nvPr/>
        </p:nvSpPr>
        <p:spPr bwMode="auto">
          <a:xfrm>
            <a:off x="5017534" y="1493791"/>
            <a:ext cx="288032" cy="288032"/>
          </a:xfrm>
          <a:prstGeom prst="star4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" name="Star: 4 Points 4"/>
          <p:cNvSpPr/>
          <p:nvPr/>
        </p:nvSpPr>
        <p:spPr bwMode="auto">
          <a:xfrm>
            <a:off x="5420618" y="2739522"/>
            <a:ext cx="288032" cy="288032"/>
          </a:xfrm>
          <a:prstGeom prst="star4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Star: 4 Points 5"/>
          <p:cNvSpPr/>
          <p:nvPr/>
        </p:nvSpPr>
        <p:spPr bwMode="auto">
          <a:xfrm>
            <a:off x="5358158" y="1231706"/>
            <a:ext cx="288032" cy="288032"/>
          </a:xfrm>
          <a:prstGeom prst="star4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7" name="Star: 4 Points 6"/>
          <p:cNvSpPr/>
          <p:nvPr/>
        </p:nvSpPr>
        <p:spPr bwMode="auto">
          <a:xfrm>
            <a:off x="5070126" y="906412"/>
            <a:ext cx="288032" cy="288032"/>
          </a:xfrm>
          <a:prstGeom prst="star4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8" name="Star: 4 Points 7"/>
          <p:cNvSpPr/>
          <p:nvPr/>
        </p:nvSpPr>
        <p:spPr bwMode="auto">
          <a:xfrm>
            <a:off x="5132586" y="3101982"/>
            <a:ext cx="288032" cy="288032"/>
          </a:xfrm>
          <a:prstGeom prst="star4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9" name="Star: 4 Points 8"/>
          <p:cNvSpPr/>
          <p:nvPr/>
        </p:nvSpPr>
        <p:spPr bwMode="auto">
          <a:xfrm>
            <a:off x="5342034" y="3905115"/>
            <a:ext cx="288032" cy="288032"/>
          </a:xfrm>
          <a:prstGeom prst="star4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4795619" y="820435"/>
            <a:ext cx="961966" cy="1105404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4917414" y="2649673"/>
            <a:ext cx="1006408" cy="86501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" name="Star: 5 Points 2"/>
          <p:cNvSpPr/>
          <p:nvPr/>
        </p:nvSpPr>
        <p:spPr bwMode="auto">
          <a:xfrm>
            <a:off x="7740352" y="955355"/>
            <a:ext cx="504056" cy="552702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3" name="Star: 5 Points 12"/>
          <p:cNvSpPr/>
          <p:nvPr/>
        </p:nvSpPr>
        <p:spPr bwMode="auto">
          <a:xfrm>
            <a:off x="7488324" y="2276955"/>
            <a:ext cx="504056" cy="552702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4" name="Star: 5 Points 13"/>
          <p:cNvSpPr/>
          <p:nvPr/>
        </p:nvSpPr>
        <p:spPr bwMode="auto">
          <a:xfrm>
            <a:off x="7884368" y="4049131"/>
            <a:ext cx="504056" cy="552702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95619" y="4811291"/>
            <a:ext cx="1492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Radar tracks</a:t>
            </a:r>
            <a:endParaRPr lang="zh-CN" altLang="en-US" dirty="0"/>
          </a:p>
        </p:txBody>
      </p:sp>
      <p:sp>
        <p:nvSpPr>
          <p:cNvPr id="16" name="Rectangle 15"/>
          <p:cNvSpPr/>
          <p:nvPr/>
        </p:nvSpPr>
        <p:spPr>
          <a:xfrm>
            <a:off x="7248105" y="4811291"/>
            <a:ext cx="1488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Vision tracks</a:t>
            </a:r>
            <a:endParaRPr lang="zh-CN" altLang="en-US" dirty="0"/>
          </a:p>
        </p:txBody>
      </p:sp>
      <p:cxnSp>
        <p:nvCxnSpPr>
          <p:cNvPr id="17" name="Straight Arrow Connector 16"/>
          <p:cNvCxnSpPr/>
          <p:nvPr/>
        </p:nvCxnSpPr>
        <p:spPr bwMode="auto">
          <a:xfrm>
            <a:off x="5776690" y="1377802"/>
            <a:ext cx="1603622" cy="10433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Arrow Connector 18"/>
          <p:cNvCxnSpPr/>
          <p:nvPr/>
        </p:nvCxnSpPr>
        <p:spPr bwMode="auto">
          <a:xfrm flipV="1">
            <a:off x="5925139" y="1519738"/>
            <a:ext cx="1815213" cy="15396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Rectangle 24"/>
          <p:cNvSpPr/>
          <p:nvPr/>
        </p:nvSpPr>
        <p:spPr>
          <a:xfrm>
            <a:off x="5704501" y="3499987"/>
            <a:ext cx="23623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Association to empty</a:t>
            </a:r>
            <a:endParaRPr lang="zh-CN" altLang="en-US" dirty="0"/>
          </a:p>
        </p:txBody>
      </p:sp>
      <p:cxnSp>
        <p:nvCxnSpPr>
          <p:cNvPr id="26" name="Straight Arrow Connector 25"/>
          <p:cNvCxnSpPr/>
          <p:nvPr/>
        </p:nvCxnSpPr>
        <p:spPr bwMode="auto">
          <a:xfrm flipH="1">
            <a:off x="5776690" y="3892370"/>
            <a:ext cx="801811" cy="1567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Arrow Connector 27"/>
          <p:cNvCxnSpPr/>
          <p:nvPr/>
        </p:nvCxnSpPr>
        <p:spPr bwMode="auto">
          <a:xfrm>
            <a:off x="7248105" y="3900725"/>
            <a:ext cx="744274" cy="23210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Rectangle 30"/>
          <p:cNvSpPr/>
          <p:nvPr/>
        </p:nvSpPr>
        <p:spPr>
          <a:xfrm>
            <a:off x="5234454" y="494754"/>
            <a:ext cx="33024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Multiple-to-one association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9321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">
            <a:extLst/>
          </p:cNvPr>
          <p:cNvSpPr/>
          <p:nvPr/>
        </p:nvSpPr>
        <p:spPr>
          <a:xfrm>
            <a:off x="395536" y="629915"/>
            <a:ext cx="3600400" cy="1619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Input: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Fusion object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Vision track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Radar track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Fusion system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 err="1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Cals</a:t>
            </a:r>
            <a:endParaRPr lang="en-US" altLang="zh-CN" sz="1600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">
            <a:extLst/>
          </p:cNvPr>
          <p:cNvSpPr/>
          <p:nvPr/>
        </p:nvSpPr>
        <p:spPr>
          <a:xfrm>
            <a:off x="423697" y="2277752"/>
            <a:ext cx="3600400" cy="1127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Output: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Fusion object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Fusion system structure</a:t>
            </a:r>
          </a:p>
          <a:p>
            <a:pPr lvl="1"/>
            <a:endParaRPr lang="en-US" altLang="zh-CN" sz="1600" dirty="0"/>
          </a:p>
        </p:txBody>
      </p:sp>
      <p:sp>
        <p:nvSpPr>
          <p:cNvPr id="5" name="文本框 154">
            <a:extLst/>
          </p:cNvPr>
          <p:cNvSpPr txBox="1"/>
          <p:nvPr/>
        </p:nvSpPr>
        <p:spPr>
          <a:xfrm>
            <a:off x="1619672" y="0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2400" dirty="0"/>
              <a:t>Track to track association, continued</a:t>
            </a:r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1581527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1403647" y="557907"/>
            <a:ext cx="5705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Software Architecture of</a:t>
            </a:r>
            <a:r>
              <a:rPr lang="zh-CN" altLang="en-US" sz="2400" dirty="0"/>
              <a:t> </a:t>
            </a:r>
            <a:r>
              <a:rPr lang="en-US" altLang="zh-CN" sz="2400" dirty="0"/>
              <a:t>sensor</a:t>
            </a:r>
            <a:r>
              <a:rPr lang="zh-CN" altLang="en-US" sz="2400" dirty="0"/>
              <a:t> </a:t>
            </a:r>
            <a:r>
              <a:rPr lang="en-US" altLang="zh-CN" sz="2400" dirty="0"/>
              <a:t>fusion</a:t>
            </a:r>
            <a:endParaRPr lang="zh-CN" altLang="en-US" sz="24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6DE47BE-DDA8-4C8E-9B97-EE3621FD48E7}"/>
              </a:ext>
            </a:extLst>
          </p:cNvPr>
          <p:cNvSpPr/>
          <p:nvPr/>
        </p:nvSpPr>
        <p:spPr bwMode="auto">
          <a:xfrm>
            <a:off x="928064" y="2214091"/>
            <a:ext cx="676096" cy="2019218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Senor</a:t>
            </a:r>
          </a:p>
          <a:p>
            <a:pPr algn="ctr" eaLnBrk="1" hangingPunct="1"/>
            <a:r>
              <a:rPr lang="en-US" altLang="zh-CN" sz="1100" dirty="0"/>
              <a:t>data</a:t>
            </a:r>
          </a:p>
          <a:p>
            <a:pPr algn="ctr" eaLnBrk="1" hangingPunct="1"/>
            <a:r>
              <a:rPr lang="en-US" altLang="zh-CN" sz="1100" dirty="0"/>
              <a:t>adaptor</a:t>
            </a:r>
            <a:endParaRPr lang="zh-CN" altLang="en-US" sz="700" dirty="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F8AE557-0264-485B-8227-40C9D2F147B3}"/>
              </a:ext>
            </a:extLst>
          </p:cNvPr>
          <p:cNvSpPr/>
          <p:nvPr/>
        </p:nvSpPr>
        <p:spPr bwMode="auto">
          <a:xfrm>
            <a:off x="2008184" y="1351748"/>
            <a:ext cx="1152128" cy="2883314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Measurement</a:t>
            </a:r>
          </a:p>
          <a:p>
            <a:pPr algn="ctr" eaLnBrk="1" hangingPunct="1"/>
            <a:r>
              <a:rPr lang="en-US" altLang="zh-CN" sz="1100" dirty="0"/>
              <a:t>time stamp</a:t>
            </a:r>
          </a:p>
          <a:p>
            <a:pPr algn="ctr" eaLnBrk="1" hangingPunct="1"/>
            <a:r>
              <a:rPr lang="en-US" altLang="zh-CN" sz="1100" dirty="0"/>
              <a:t>management</a:t>
            </a:r>
            <a:endParaRPr lang="zh-CN" altLang="en-US" sz="700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0EBECE9-7BA4-4CBB-B7C7-CB4BC529F496}"/>
              </a:ext>
            </a:extLst>
          </p:cNvPr>
          <p:cNvSpPr/>
          <p:nvPr/>
        </p:nvSpPr>
        <p:spPr bwMode="auto">
          <a:xfrm>
            <a:off x="3531363" y="3078187"/>
            <a:ext cx="997101" cy="115512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Association</a:t>
            </a:r>
            <a:endParaRPr lang="zh-CN" altLang="en-US" sz="70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E7DFC8B-F62C-49A9-B766-DF638EE2DE8B}"/>
              </a:ext>
            </a:extLst>
          </p:cNvPr>
          <p:cNvSpPr/>
          <p:nvPr/>
        </p:nvSpPr>
        <p:spPr bwMode="auto">
          <a:xfrm>
            <a:off x="4901107" y="3078187"/>
            <a:ext cx="991228" cy="115512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State update</a:t>
            </a:r>
            <a:endParaRPr lang="zh-CN" altLang="en-US" sz="70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B8665D8-E1B4-4311-87C9-EB6E7B7FECDA}"/>
              </a:ext>
            </a:extLst>
          </p:cNvPr>
          <p:cNvSpPr/>
          <p:nvPr/>
        </p:nvSpPr>
        <p:spPr bwMode="auto">
          <a:xfrm>
            <a:off x="6266704" y="1349995"/>
            <a:ext cx="740417" cy="2883314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Book</a:t>
            </a:r>
          </a:p>
          <a:p>
            <a:pPr algn="ctr" eaLnBrk="1" hangingPunct="1"/>
            <a:r>
              <a:rPr lang="en-US" altLang="zh-CN" sz="1100" dirty="0"/>
              <a:t>Keeping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AA48DE7-66AC-4A9D-A404-9AA6B3332871}"/>
              </a:ext>
            </a:extLst>
          </p:cNvPr>
          <p:cNvSpPr/>
          <p:nvPr/>
        </p:nvSpPr>
        <p:spPr bwMode="auto">
          <a:xfrm>
            <a:off x="3531363" y="1349995"/>
            <a:ext cx="2360972" cy="118813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200" dirty="0"/>
              <a:t>Track management</a:t>
            </a:r>
          </a:p>
          <a:p>
            <a:pPr algn="ctr" eaLnBrk="1" hangingPunct="1"/>
            <a:r>
              <a:rPr lang="en-US" altLang="zh-CN" sz="1200" dirty="0"/>
              <a:t>(Track </a:t>
            </a:r>
            <a:r>
              <a:rPr lang="en-US" altLang="zh-CN" sz="1200" dirty="0" err="1"/>
              <a:t>init.</a:t>
            </a:r>
            <a:r>
              <a:rPr lang="en-US" altLang="zh-CN" sz="1200" dirty="0"/>
              <a:t> included)</a:t>
            </a:r>
            <a:endParaRPr lang="zh-CN" altLang="en-US" sz="800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0FBE1FD-A4F7-4C7F-B800-BE4F5FE2FED4}"/>
              </a:ext>
            </a:extLst>
          </p:cNvPr>
          <p:cNvSpPr/>
          <p:nvPr/>
        </p:nvSpPr>
        <p:spPr bwMode="auto">
          <a:xfrm>
            <a:off x="7398736" y="3006179"/>
            <a:ext cx="936104" cy="1227130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Barrier</a:t>
            </a:r>
          </a:p>
          <a:p>
            <a:pPr algn="ctr" eaLnBrk="1" hangingPunct="1"/>
            <a:r>
              <a:rPr lang="en-US" altLang="zh-CN" sz="1100" dirty="0"/>
              <a:t>estimation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9D834F6-160E-435E-96BA-08B3F5D077AB}"/>
              </a:ext>
            </a:extLst>
          </p:cNvPr>
          <p:cNvSpPr/>
          <p:nvPr/>
        </p:nvSpPr>
        <p:spPr bwMode="auto">
          <a:xfrm>
            <a:off x="7398736" y="1349995"/>
            <a:ext cx="936104" cy="1227130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Confidence assessment</a:t>
            </a: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BA71D232-E97A-44F8-8EFA-8BEDA9AB0C55}"/>
              </a:ext>
            </a:extLst>
          </p:cNvPr>
          <p:cNvCxnSpPr>
            <a:cxnSpLocks/>
          </p:cNvCxnSpPr>
          <p:nvPr/>
        </p:nvCxnSpPr>
        <p:spPr bwMode="auto">
          <a:xfrm>
            <a:off x="395536" y="2718147"/>
            <a:ext cx="532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1B4DEAAE-966A-4E43-AC8E-48197F924AB4}"/>
              </a:ext>
            </a:extLst>
          </p:cNvPr>
          <p:cNvCxnSpPr>
            <a:cxnSpLocks/>
          </p:cNvCxnSpPr>
          <p:nvPr/>
        </p:nvCxnSpPr>
        <p:spPr bwMode="auto">
          <a:xfrm>
            <a:off x="395536" y="3654251"/>
            <a:ext cx="532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5F179419-85C2-4966-9EBF-68BC62BDE9DF}"/>
              </a:ext>
            </a:extLst>
          </p:cNvPr>
          <p:cNvCxnSpPr>
            <a:cxnSpLocks/>
          </p:cNvCxnSpPr>
          <p:nvPr/>
        </p:nvCxnSpPr>
        <p:spPr bwMode="auto">
          <a:xfrm>
            <a:off x="467544" y="1805491"/>
            <a:ext cx="1530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C5D43F42-5E1D-412F-A1D0-34238C102563}"/>
              </a:ext>
            </a:extLst>
          </p:cNvPr>
          <p:cNvCxnSpPr/>
          <p:nvPr/>
        </p:nvCxnSpPr>
        <p:spPr bwMode="auto">
          <a:xfrm>
            <a:off x="1614656" y="3150195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7E57DA10-9C1E-4A37-B09A-C47E56C25149}"/>
              </a:ext>
            </a:extLst>
          </p:cNvPr>
          <p:cNvCxnSpPr>
            <a:cxnSpLocks/>
          </p:cNvCxnSpPr>
          <p:nvPr/>
        </p:nvCxnSpPr>
        <p:spPr bwMode="auto">
          <a:xfrm>
            <a:off x="3160312" y="1926059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D44F9E1E-8DB2-4B9D-8DBB-7DE92E08A879}"/>
              </a:ext>
            </a:extLst>
          </p:cNvPr>
          <p:cNvCxnSpPr>
            <a:cxnSpLocks/>
          </p:cNvCxnSpPr>
          <p:nvPr/>
        </p:nvCxnSpPr>
        <p:spPr bwMode="auto">
          <a:xfrm>
            <a:off x="3160312" y="3642653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40B6FD4F-2C77-4671-BA94-498B80275E7D}"/>
              </a:ext>
            </a:extLst>
          </p:cNvPr>
          <p:cNvCxnSpPr>
            <a:cxnSpLocks/>
          </p:cNvCxnSpPr>
          <p:nvPr/>
        </p:nvCxnSpPr>
        <p:spPr bwMode="auto">
          <a:xfrm>
            <a:off x="4530056" y="3654251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F4A517FF-8F7D-40CB-A9B8-8058FACDDC8C}"/>
              </a:ext>
            </a:extLst>
          </p:cNvPr>
          <p:cNvCxnSpPr>
            <a:cxnSpLocks/>
          </p:cNvCxnSpPr>
          <p:nvPr/>
        </p:nvCxnSpPr>
        <p:spPr bwMode="auto">
          <a:xfrm>
            <a:off x="5892335" y="1937908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36076E4C-4FCD-42DF-97E8-3356ACBC1278}"/>
              </a:ext>
            </a:extLst>
          </p:cNvPr>
          <p:cNvCxnSpPr>
            <a:cxnSpLocks/>
          </p:cNvCxnSpPr>
          <p:nvPr/>
        </p:nvCxnSpPr>
        <p:spPr bwMode="auto">
          <a:xfrm>
            <a:off x="7016667" y="1942993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0BE59866-F58B-4FD3-9FCC-EB5A43D21E1E}"/>
              </a:ext>
            </a:extLst>
          </p:cNvPr>
          <p:cNvCxnSpPr>
            <a:cxnSpLocks/>
          </p:cNvCxnSpPr>
          <p:nvPr/>
        </p:nvCxnSpPr>
        <p:spPr bwMode="auto">
          <a:xfrm>
            <a:off x="7021691" y="3677701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33F4EE9A-E4DB-4649-A798-E4FD15F3EB14}"/>
              </a:ext>
            </a:extLst>
          </p:cNvPr>
          <p:cNvCxnSpPr>
            <a:cxnSpLocks/>
            <a:stCxn id="78" idx="0"/>
          </p:cNvCxnSpPr>
          <p:nvPr/>
        </p:nvCxnSpPr>
        <p:spPr bwMode="auto">
          <a:xfrm flipV="1">
            <a:off x="5396721" y="2538127"/>
            <a:ext cx="0" cy="540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5E891B06-BF06-4460-A043-AF99B8124ABB}"/>
              </a:ext>
            </a:extLst>
          </p:cNvPr>
          <p:cNvCxnSpPr>
            <a:cxnSpLocks/>
            <a:endCxn id="76" idx="0"/>
          </p:cNvCxnSpPr>
          <p:nvPr/>
        </p:nvCxnSpPr>
        <p:spPr bwMode="auto">
          <a:xfrm>
            <a:off x="4029914" y="2538127"/>
            <a:ext cx="0" cy="540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BC64E6FB-3957-4C6D-9634-522DED344DA9}"/>
              </a:ext>
            </a:extLst>
          </p:cNvPr>
          <p:cNvCxnSpPr/>
          <p:nvPr/>
        </p:nvCxnSpPr>
        <p:spPr bwMode="auto">
          <a:xfrm>
            <a:off x="8334840" y="1963560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2FD92314-C8BD-41DB-A88D-F350123CF99C}"/>
              </a:ext>
            </a:extLst>
          </p:cNvPr>
          <p:cNvCxnSpPr/>
          <p:nvPr/>
        </p:nvCxnSpPr>
        <p:spPr bwMode="auto">
          <a:xfrm>
            <a:off x="8339864" y="3677701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68B6CBB-1438-4557-B881-611449D09EBC}"/>
              </a:ext>
            </a:extLst>
          </p:cNvPr>
          <p:cNvSpPr txBox="1"/>
          <p:nvPr/>
        </p:nvSpPr>
        <p:spPr>
          <a:xfrm>
            <a:off x="315101" y="1543881"/>
            <a:ext cx="944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Ego Motion</a:t>
            </a:r>
            <a:endParaRPr lang="zh-CN" altLang="en-US" sz="11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72A6E25C-7DEE-4A99-926B-C68CA91B2344}"/>
              </a:ext>
            </a:extLst>
          </p:cNvPr>
          <p:cNvSpPr txBox="1"/>
          <p:nvPr/>
        </p:nvSpPr>
        <p:spPr>
          <a:xfrm>
            <a:off x="220690" y="2502703"/>
            <a:ext cx="9445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Vision Detection</a:t>
            </a:r>
            <a:endParaRPr lang="zh-CN" altLang="en-US" sz="11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96F8699-D7CC-4083-BA4B-0F0B385DBB97}"/>
              </a:ext>
            </a:extLst>
          </p:cNvPr>
          <p:cNvSpPr txBox="1"/>
          <p:nvPr/>
        </p:nvSpPr>
        <p:spPr>
          <a:xfrm>
            <a:off x="217955" y="3438227"/>
            <a:ext cx="9445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Radar Detection</a:t>
            </a:r>
            <a:endParaRPr lang="zh-CN" altLang="en-US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873D20-039F-4A14-8941-F8BD9F2A07F3}"/>
              </a:ext>
            </a:extLst>
          </p:cNvPr>
          <p:cNvSpPr/>
          <p:nvPr/>
        </p:nvSpPr>
        <p:spPr bwMode="auto">
          <a:xfrm>
            <a:off x="4736197" y="2933590"/>
            <a:ext cx="1347971" cy="1463478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57A2255-310A-4EE2-B50D-CACEE48D44A0}"/>
              </a:ext>
            </a:extLst>
          </p:cNvPr>
          <p:cNvSpPr/>
          <p:nvPr/>
        </p:nvSpPr>
        <p:spPr bwMode="auto">
          <a:xfrm>
            <a:off x="6692462" y="283258"/>
            <a:ext cx="477595" cy="209786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6ECE6C2-BFF0-4D76-8EF1-B07820A01E1A}"/>
              </a:ext>
            </a:extLst>
          </p:cNvPr>
          <p:cNvSpPr txBox="1"/>
          <p:nvPr/>
        </p:nvSpPr>
        <p:spPr>
          <a:xfrm>
            <a:off x="7224985" y="251517"/>
            <a:ext cx="849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22HZ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038456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1763688" y="34492"/>
            <a:ext cx="3600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2400" dirty="0"/>
              <a:t>Measurement Update</a:t>
            </a:r>
            <a:endParaRPr lang="zh-CN" altLang="en-US" sz="8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B3A4B1-DC1D-426F-AE3A-C4F0FAB3D8B6}"/>
              </a:ext>
            </a:extLst>
          </p:cNvPr>
          <p:cNvSpPr/>
          <p:nvPr/>
        </p:nvSpPr>
        <p:spPr>
          <a:xfrm>
            <a:off x="323528" y="511289"/>
            <a:ext cx="374441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altLang="zh-CN" dirty="0"/>
              <a:t>Select radar reference point on the target body.</a:t>
            </a:r>
            <a:endParaRPr lang="zh-CN" altLang="zh-CN" dirty="0"/>
          </a:p>
          <a:p>
            <a:pPr marL="705871" lvl="1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Corner points</a:t>
            </a:r>
            <a:endParaRPr lang="zh-CN" altLang="zh-CN" dirty="0"/>
          </a:p>
          <a:p>
            <a:pPr marL="705871" lvl="1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Face center</a:t>
            </a:r>
            <a:endParaRPr lang="zh-CN" altLang="zh-CN" dirty="0"/>
          </a:p>
          <a:p>
            <a:pPr marL="705871" lvl="1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Centroid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zh-CN" dirty="0"/>
              <a:t>Based on association results:</a:t>
            </a:r>
            <a:endParaRPr lang="zh-CN" altLang="zh-CN" dirty="0"/>
          </a:p>
          <a:p>
            <a:pPr marL="705871" lvl="1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Generate a “combined measurement”</a:t>
            </a:r>
            <a:endParaRPr lang="zh-CN" altLang="zh-CN" dirty="0"/>
          </a:p>
          <a:p>
            <a:pPr marL="705871" lvl="1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Update the state of the reference point based on KF/EFK</a:t>
            </a:r>
            <a:endParaRPr lang="zh-CN" altLang="zh-CN" dirty="0"/>
          </a:p>
          <a:p>
            <a:pPr marL="705871" lvl="1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Estimate the target extension (i.e., size), if the information is not enough to estimate the size, give a default value.</a:t>
            </a:r>
          </a:p>
        </p:txBody>
      </p:sp>
      <p:pic>
        <p:nvPicPr>
          <p:cNvPr id="4" name="Picture 17" descr="blue_car">
            <a:extLst/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5E8496"/>
              </a:clrFrom>
              <a:clrTo>
                <a:srgbClr val="5E849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186" y="511289"/>
            <a:ext cx="571678" cy="1319982"/>
          </a:xfrm>
          <a:prstGeom prst="rect">
            <a:avLst/>
          </a:prstGeom>
          <a:noFill/>
          <a:ln>
            <a:noFill/>
          </a:ln>
          <a:extLst/>
        </p:spPr>
      </p:pic>
      <p:pic>
        <p:nvPicPr>
          <p:cNvPr id="5" name="Picture 8" descr="blue_car">
            <a:extLst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514" y="2502123"/>
            <a:ext cx="436261" cy="945910"/>
          </a:xfrm>
          <a:prstGeom prst="rect">
            <a:avLst/>
          </a:prstGeom>
          <a:noFill/>
          <a:ln>
            <a:noFill/>
          </a:ln>
          <a:extLst/>
        </p:spPr>
      </p:pic>
      <p:sp>
        <p:nvSpPr>
          <p:cNvPr id="6" name="Rectangle 5"/>
          <p:cNvSpPr/>
          <p:nvPr/>
        </p:nvSpPr>
        <p:spPr>
          <a:xfrm>
            <a:off x="5442858" y="141957"/>
            <a:ext cx="8963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Target</a:t>
            </a:r>
            <a:endParaRPr lang="zh-CN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5442858" y="3510235"/>
            <a:ext cx="8963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Host</a:t>
            </a:r>
            <a:endParaRPr lang="zh-CN" altLang="en-US" dirty="0"/>
          </a:p>
        </p:txBody>
      </p:sp>
      <p:cxnSp>
        <p:nvCxnSpPr>
          <p:cNvPr id="8" name="Straight Arrow Connector 7"/>
          <p:cNvCxnSpPr/>
          <p:nvPr/>
        </p:nvCxnSpPr>
        <p:spPr bwMode="auto">
          <a:xfrm flipH="1" flipV="1">
            <a:off x="6018793" y="1865866"/>
            <a:ext cx="1120803" cy="2121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Oval 8"/>
          <p:cNvSpPr/>
          <p:nvPr/>
        </p:nvSpPr>
        <p:spPr bwMode="auto">
          <a:xfrm>
            <a:off x="5827461" y="1746784"/>
            <a:ext cx="127127" cy="121236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79248" y="2003017"/>
            <a:ext cx="1823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Reference point</a:t>
            </a:r>
            <a:endParaRPr lang="zh-CN" altLang="en-US" dirty="0"/>
          </a:p>
        </p:txBody>
      </p:sp>
      <p:cxnSp>
        <p:nvCxnSpPr>
          <p:cNvPr id="16" name="Straight Connector 15"/>
          <p:cNvCxnSpPr/>
          <p:nvPr/>
        </p:nvCxnSpPr>
        <p:spPr bwMode="auto">
          <a:xfrm flipV="1">
            <a:off x="5891024" y="1277987"/>
            <a:ext cx="0" cy="110738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8" name="Picture 17" descr="blue_car">
            <a:extLst/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5E8496"/>
              </a:clrFrom>
              <a:clrTo>
                <a:srgbClr val="5E849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15027">
            <a:off x="8408409" y="164483"/>
            <a:ext cx="571678" cy="1319982"/>
          </a:xfrm>
          <a:prstGeom prst="rect">
            <a:avLst/>
          </a:prstGeom>
          <a:noFill/>
          <a:ln>
            <a:noFill/>
          </a:ln>
          <a:extLst/>
        </p:spPr>
      </p:pic>
      <p:pic>
        <p:nvPicPr>
          <p:cNvPr id="19" name="Picture 8" descr="blue_car">
            <a:extLst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0037" y="2538872"/>
            <a:ext cx="436261" cy="945910"/>
          </a:xfrm>
          <a:prstGeom prst="rect">
            <a:avLst/>
          </a:prstGeom>
          <a:noFill/>
          <a:ln>
            <a:noFill/>
          </a:ln>
          <a:extLst/>
        </p:spPr>
      </p:pic>
      <p:sp>
        <p:nvSpPr>
          <p:cNvPr id="20" name="Rectangle 19"/>
          <p:cNvSpPr/>
          <p:nvPr/>
        </p:nvSpPr>
        <p:spPr>
          <a:xfrm>
            <a:off x="7429920" y="152590"/>
            <a:ext cx="8963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Target</a:t>
            </a:r>
            <a:endParaRPr lang="zh-CN" altLang="en-US" dirty="0"/>
          </a:p>
        </p:txBody>
      </p:sp>
      <p:sp>
        <p:nvSpPr>
          <p:cNvPr id="21" name="Rectangle 20"/>
          <p:cNvSpPr/>
          <p:nvPr/>
        </p:nvSpPr>
        <p:spPr>
          <a:xfrm>
            <a:off x="7936381" y="3546984"/>
            <a:ext cx="8963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Host</a:t>
            </a:r>
            <a:endParaRPr lang="zh-CN" alt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8694248" y="1440167"/>
            <a:ext cx="127127" cy="121236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23" name="Straight Connector 22"/>
          <p:cNvCxnSpPr>
            <a:stCxn id="19" idx="0"/>
          </p:cNvCxnSpPr>
          <p:nvPr/>
        </p:nvCxnSpPr>
        <p:spPr bwMode="auto">
          <a:xfrm flipV="1">
            <a:off x="8388168" y="1605468"/>
            <a:ext cx="306080" cy="9334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/>
          <p:cNvCxnSpPr/>
          <p:nvPr/>
        </p:nvCxnSpPr>
        <p:spPr bwMode="auto">
          <a:xfrm flipV="1">
            <a:off x="7353438" y="1543266"/>
            <a:ext cx="1252860" cy="4961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Oval 34"/>
          <p:cNvSpPr/>
          <p:nvPr/>
        </p:nvSpPr>
        <p:spPr bwMode="auto">
          <a:xfrm>
            <a:off x="5829471" y="1271740"/>
            <a:ext cx="127127" cy="12123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6" name="Oval 35"/>
          <p:cNvSpPr/>
          <p:nvPr/>
        </p:nvSpPr>
        <p:spPr bwMode="auto">
          <a:xfrm>
            <a:off x="8706353" y="937748"/>
            <a:ext cx="127127" cy="12123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37" name="Straight Connector 36"/>
          <p:cNvCxnSpPr>
            <a:stCxn id="19" idx="0"/>
          </p:cNvCxnSpPr>
          <p:nvPr/>
        </p:nvCxnSpPr>
        <p:spPr bwMode="auto">
          <a:xfrm flipV="1">
            <a:off x="8388168" y="1054535"/>
            <a:ext cx="325924" cy="148433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Rectangle 40"/>
          <p:cNvSpPr/>
          <p:nvPr/>
        </p:nvSpPr>
        <p:spPr>
          <a:xfrm>
            <a:off x="5004048" y="3909218"/>
            <a:ext cx="40550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The reference point is chosen by comparing the vectors from sensor to the target centroid and to the candidate reference points</a:t>
            </a:r>
            <a:endParaRPr lang="zh-CN" altLang="en-US" dirty="0"/>
          </a:p>
        </p:txBody>
      </p:sp>
      <p:sp>
        <p:nvSpPr>
          <p:cNvPr id="42" name="Oval 41"/>
          <p:cNvSpPr/>
          <p:nvPr/>
        </p:nvSpPr>
        <p:spPr bwMode="auto">
          <a:xfrm>
            <a:off x="5644509" y="1710035"/>
            <a:ext cx="127127" cy="12123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43" name="Straight Connector 42"/>
          <p:cNvCxnSpPr>
            <a:stCxn id="5" idx="0"/>
            <a:endCxn id="42" idx="4"/>
          </p:cNvCxnSpPr>
          <p:nvPr/>
        </p:nvCxnSpPr>
        <p:spPr bwMode="auto">
          <a:xfrm flipH="1" flipV="1">
            <a:off x="5708073" y="1831271"/>
            <a:ext cx="186572" cy="6708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Connector 45"/>
          <p:cNvCxnSpPr>
            <a:endCxn id="18" idx="2"/>
          </p:cNvCxnSpPr>
          <p:nvPr/>
        </p:nvCxnSpPr>
        <p:spPr bwMode="auto">
          <a:xfrm flipV="1">
            <a:off x="8399312" y="1438894"/>
            <a:ext cx="535925" cy="109997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Oval 47"/>
          <p:cNvSpPr/>
          <p:nvPr/>
        </p:nvSpPr>
        <p:spPr bwMode="auto">
          <a:xfrm>
            <a:off x="8881901" y="1378276"/>
            <a:ext cx="127127" cy="12123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8721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1698511" y="30954"/>
            <a:ext cx="5321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2400" dirty="0"/>
              <a:t>Measurement Update, continued</a:t>
            </a:r>
            <a:endParaRPr lang="zh-CN" alt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154">
                <a:extLst/>
              </p:cNvPr>
              <p:cNvSpPr txBox="1"/>
              <p:nvPr/>
            </p:nvSpPr>
            <p:spPr>
              <a:xfrm>
                <a:off x="251520" y="629915"/>
                <a:ext cx="604867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1" hangingPunct="1"/>
                <a:r>
                  <a:rPr lang="en-US" altLang="zh-CN" sz="2400" dirty="0"/>
                  <a:t>Combined measurement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dirty="0"/>
                  <a:t>:</a:t>
                </a:r>
              </a:p>
              <a:p>
                <a:pPr marL="457200" indent="-457200" eaLnBrk="1" hangingPunct="1">
                  <a:buAutoNum type="arabicPeriod"/>
                </a:pPr>
                <a:r>
                  <a:rPr lang="en-US" altLang="zh-CN" sz="2400" dirty="0"/>
                  <a:t>Radar location of reference points</a:t>
                </a:r>
              </a:p>
              <a:p>
                <a:pPr marL="457200" indent="-457200" eaLnBrk="1" hangingPunct="1">
                  <a:buAutoNum type="arabicPeriod"/>
                </a:pPr>
                <a:r>
                  <a:rPr lang="en-US" altLang="zh-CN" sz="2400" dirty="0"/>
                  <a:t>Radar range rates</a:t>
                </a:r>
              </a:p>
              <a:p>
                <a:pPr marL="457200" indent="-457200" eaLnBrk="1" hangingPunct="1">
                  <a:buAutoNum type="arabicPeriod"/>
                </a:pPr>
                <a:r>
                  <a:rPr lang="en-US" altLang="zh-CN" sz="2400" dirty="0"/>
                  <a:t>Vision angle of rear/front face center</a:t>
                </a:r>
                <a:endParaRPr lang="zh-CN" altLang="en-US" sz="800" dirty="0"/>
              </a:p>
            </p:txBody>
          </p:sp>
        </mc:Choice>
        <mc:Fallback xmlns="">
          <p:sp>
            <p:nvSpPr>
              <p:cNvPr id="30" name="文本框 154">
                <a:extLst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629915"/>
                <a:ext cx="6048672" cy="1569660"/>
              </a:xfrm>
              <a:prstGeom prst="rect">
                <a:avLst/>
              </a:prstGeom>
              <a:blipFill>
                <a:blip r:embed="rId2"/>
                <a:stretch>
                  <a:fillRect l="-1512" t="-2713" b="-8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154">
                <a:extLst/>
              </p:cNvPr>
              <p:cNvSpPr txBox="1"/>
              <p:nvPr/>
            </p:nvSpPr>
            <p:spPr>
              <a:xfrm>
                <a:off x="251520" y="2199575"/>
                <a:ext cx="6048672" cy="1602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1" hangingPunct="1"/>
                <a:r>
                  <a:rPr lang="en-US" altLang="zh-CN" sz="2400" dirty="0"/>
                  <a:t>Measurement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sz="2400" dirty="0"/>
                  <a:t>:</a:t>
                </a:r>
              </a:p>
              <a:p>
                <a:pPr marL="457200" indent="-457200" eaLnBrk="1" hangingPunct="1">
                  <a:buAutoNum type="arabicPeriod"/>
                </a:pPr>
                <a:r>
                  <a:rPr lang="en-US" altLang="zh-CN" sz="2400" dirty="0"/>
                  <a:t>Predicted location of reference points</a:t>
                </a:r>
              </a:p>
              <a:p>
                <a:pPr marL="457200" indent="-457200" eaLnBrk="1" hangingPunct="1">
                  <a:buAutoNum type="arabicPeriod"/>
                </a:pPr>
                <a:r>
                  <a:rPr lang="en-US" altLang="zh-CN" sz="2400" dirty="0"/>
                  <a:t>Predicted radar range rates</a:t>
                </a:r>
              </a:p>
              <a:p>
                <a:pPr marL="457200" indent="-457200" eaLnBrk="1" hangingPunct="1">
                  <a:buAutoNum type="arabicPeriod"/>
                </a:pPr>
                <a:r>
                  <a:rPr lang="en-US" altLang="zh-CN" sz="2400" dirty="0"/>
                  <a:t>Predicted angle of rear/front face center</a:t>
                </a:r>
                <a:endParaRPr lang="zh-CN" altLang="en-US" sz="800" dirty="0"/>
              </a:p>
            </p:txBody>
          </p:sp>
        </mc:Choice>
        <mc:Fallback xmlns="">
          <p:sp>
            <p:nvSpPr>
              <p:cNvPr id="31" name="文本框 154">
                <a:extLst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199575"/>
                <a:ext cx="6048672" cy="1602811"/>
              </a:xfrm>
              <a:prstGeom prst="rect">
                <a:avLst/>
              </a:prstGeom>
              <a:blipFill>
                <a:blip r:embed="rId3"/>
                <a:stretch>
                  <a:fillRect l="-1512" t="-3042" r="-1109" b="-7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本框 154">
            <a:extLst/>
          </p:cNvPr>
          <p:cNvSpPr txBox="1"/>
          <p:nvPr/>
        </p:nvSpPr>
        <p:spPr>
          <a:xfrm>
            <a:off x="251520" y="3654251"/>
            <a:ext cx="60486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2400" dirty="0"/>
              <a:t>Nonlinear filter update:</a:t>
            </a:r>
          </a:p>
          <a:p>
            <a:pPr marL="457200" indent="-457200" eaLnBrk="1" hangingPunct="1">
              <a:buAutoNum type="arabicPeriod"/>
            </a:pPr>
            <a:r>
              <a:rPr lang="en-US" altLang="zh-CN" sz="2400" dirty="0"/>
              <a:t>EKF (probably good enough)</a:t>
            </a:r>
          </a:p>
          <a:p>
            <a:pPr marL="457200" indent="-457200" eaLnBrk="1" hangingPunct="1">
              <a:buAutoNum type="arabicPeriod"/>
            </a:pPr>
            <a:r>
              <a:rPr lang="en-US" altLang="zh-CN" sz="2400" dirty="0"/>
              <a:t>UKF (Worth to try, see how much difference)</a:t>
            </a:r>
            <a:endParaRPr lang="zh-CN" alt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229465" y="1379612"/>
                <a:ext cx="1743491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465" y="1379612"/>
                <a:ext cx="1743491" cy="301878"/>
              </a:xfrm>
              <a:prstGeom prst="rect">
                <a:avLst/>
              </a:prstGeom>
              <a:blipFill>
                <a:blip r:embed="rId4"/>
                <a:stretch>
                  <a:fillRect l="-1049" r="-35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154">
            <a:extLst/>
          </p:cNvPr>
          <p:cNvSpPr txBox="1"/>
          <p:nvPr/>
        </p:nvSpPr>
        <p:spPr>
          <a:xfrm>
            <a:off x="6228185" y="917947"/>
            <a:ext cx="1856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2400" dirty="0"/>
              <a:t>Innovation:</a:t>
            </a:r>
            <a:endParaRPr lang="zh-CN" altLang="en-US" sz="800" dirty="0"/>
          </a:p>
        </p:txBody>
      </p:sp>
      <p:sp>
        <p:nvSpPr>
          <p:cNvPr id="38" name="文本框 154">
            <a:extLst/>
          </p:cNvPr>
          <p:cNvSpPr txBox="1"/>
          <p:nvPr/>
        </p:nvSpPr>
        <p:spPr>
          <a:xfrm>
            <a:off x="6228184" y="1802551"/>
            <a:ext cx="2152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2400" dirty="0"/>
              <a:t>State update:</a:t>
            </a:r>
            <a:endParaRPr lang="zh-CN" alt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7229465" y="2335261"/>
                <a:ext cx="1890326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465" y="2335261"/>
                <a:ext cx="1890326" cy="301878"/>
              </a:xfrm>
              <a:prstGeom prst="rect">
                <a:avLst/>
              </a:prstGeom>
              <a:blipFill>
                <a:blip r:embed="rId5"/>
                <a:stretch>
                  <a:fillRect l="-968" r="-9677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154">
                <a:extLst/>
              </p:cNvPr>
              <p:cNvSpPr txBox="1"/>
              <p:nvPr/>
            </p:nvSpPr>
            <p:spPr>
              <a:xfrm>
                <a:off x="6252233" y="2723241"/>
                <a:ext cx="272072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1" hangingPunct="1"/>
                <a:r>
                  <a:rPr lang="en-US" altLang="zh-CN" sz="2400" dirty="0"/>
                  <a:t>The gain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2400" dirty="0"/>
                  <a:t> may be computed by EFK/UKF formula</a:t>
                </a:r>
                <a:endParaRPr lang="zh-CN" altLang="en-US" sz="800" dirty="0"/>
              </a:p>
            </p:txBody>
          </p:sp>
        </mc:Choice>
        <mc:Fallback xmlns="">
          <p:sp>
            <p:nvSpPr>
              <p:cNvPr id="44" name="文本框 154">
                <a:extLst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233" y="2723241"/>
                <a:ext cx="2720723" cy="1200329"/>
              </a:xfrm>
              <a:prstGeom prst="rect">
                <a:avLst/>
              </a:prstGeom>
              <a:blipFill>
                <a:blip r:embed="rId6"/>
                <a:stretch>
                  <a:fillRect l="-3587" t="-3553" b="-1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 bwMode="auto">
          <a:xfrm>
            <a:off x="6228184" y="629915"/>
            <a:ext cx="2891607" cy="35283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2604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1698511" y="30954"/>
            <a:ext cx="5321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2400" dirty="0"/>
              <a:t>Measurement Update, continued 2</a:t>
            </a:r>
            <a:endParaRPr lang="zh-CN" altLang="en-US" sz="800" dirty="0"/>
          </a:p>
        </p:txBody>
      </p:sp>
      <p:sp>
        <p:nvSpPr>
          <p:cNvPr id="12" name="矩形 1">
            <a:extLst/>
          </p:cNvPr>
          <p:cNvSpPr/>
          <p:nvPr/>
        </p:nvSpPr>
        <p:spPr>
          <a:xfrm>
            <a:off x="395536" y="629915"/>
            <a:ext cx="3600400" cy="1619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Input: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Fusion object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Vision track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Radar track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Fusion system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 err="1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Cals</a:t>
            </a:r>
            <a:endParaRPr lang="en-US" altLang="zh-CN" sz="1600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">
            <a:extLst/>
          </p:cNvPr>
          <p:cNvSpPr/>
          <p:nvPr/>
        </p:nvSpPr>
        <p:spPr>
          <a:xfrm>
            <a:off x="423697" y="2277752"/>
            <a:ext cx="3600400" cy="1127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Output: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Fusion object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Fusion system structure</a:t>
            </a:r>
          </a:p>
          <a:p>
            <a:pPr lvl="1"/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4259460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1403647" y="557907"/>
            <a:ext cx="5705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Software Architecture of</a:t>
            </a:r>
            <a:r>
              <a:rPr lang="zh-CN" altLang="en-US" sz="2400" dirty="0"/>
              <a:t> </a:t>
            </a:r>
            <a:r>
              <a:rPr lang="en-US" altLang="zh-CN" sz="2400" dirty="0"/>
              <a:t>sensor</a:t>
            </a:r>
            <a:r>
              <a:rPr lang="zh-CN" altLang="en-US" sz="2400" dirty="0"/>
              <a:t> </a:t>
            </a:r>
            <a:r>
              <a:rPr lang="en-US" altLang="zh-CN" sz="2400" dirty="0"/>
              <a:t>fusion</a:t>
            </a:r>
            <a:endParaRPr lang="zh-CN" altLang="en-US" sz="24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6DE47BE-DDA8-4C8E-9B97-EE3621FD48E7}"/>
              </a:ext>
            </a:extLst>
          </p:cNvPr>
          <p:cNvSpPr/>
          <p:nvPr/>
        </p:nvSpPr>
        <p:spPr bwMode="auto">
          <a:xfrm>
            <a:off x="928064" y="2214091"/>
            <a:ext cx="676096" cy="2019218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Senor</a:t>
            </a:r>
          </a:p>
          <a:p>
            <a:pPr algn="ctr" eaLnBrk="1" hangingPunct="1"/>
            <a:r>
              <a:rPr lang="en-US" altLang="zh-CN" sz="1100" dirty="0"/>
              <a:t>data</a:t>
            </a:r>
          </a:p>
          <a:p>
            <a:pPr algn="ctr" eaLnBrk="1" hangingPunct="1"/>
            <a:r>
              <a:rPr lang="en-US" altLang="zh-CN" sz="1100" dirty="0"/>
              <a:t>adaptor</a:t>
            </a:r>
            <a:endParaRPr lang="zh-CN" altLang="en-US" sz="700" dirty="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F8AE557-0264-485B-8227-40C9D2F147B3}"/>
              </a:ext>
            </a:extLst>
          </p:cNvPr>
          <p:cNvSpPr/>
          <p:nvPr/>
        </p:nvSpPr>
        <p:spPr bwMode="auto">
          <a:xfrm>
            <a:off x="2008184" y="1351748"/>
            <a:ext cx="1152128" cy="2883314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Measurement</a:t>
            </a:r>
          </a:p>
          <a:p>
            <a:pPr algn="ctr" eaLnBrk="1" hangingPunct="1"/>
            <a:r>
              <a:rPr lang="en-US" altLang="zh-CN" sz="1100" dirty="0"/>
              <a:t>time stamp</a:t>
            </a:r>
          </a:p>
          <a:p>
            <a:pPr algn="ctr" eaLnBrk="1" hangingPunct="1"/>
            <a:r>
              <a:rPr lang="en-US" altLang="zh-CN" sz="1100" dirty="0"/>
              <a:t>management</a:t>
            </a:r>
            <a:endParaRPr lang="zh-CN" altLang="en-US" sz="700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0EBECE9-7BA4-4CBB-B7C7-CB4BC529F496}"/>
              </a:ext>
            </a:extLst>
          </p:cNvPr>
          <p:cNvSpPr/>
          <p:nvPr/>
        </p:nvSpPr>
        <p:spPr bwMode="auto">
          <a:xfrm>
            <a:off x="3531363" y="3078187"/>
            <a:ext cx="997101" cy="115512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Association</a:t>
            </a:r>
            <a:endParaRPr lang="zh-CN" altLang="en-US" sz="70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E7DFC8B-F62C-49A9-B766-DF638EE2DE8B}"/>
              </a:ext>
            </a:extLst>
          </p:cNvPr>
          <p:cNvSpPr/>
          <p:nvPr/>
        </p:nvSpPr>
        <p:spPr bwMode="auto">
          <a:xfrm>
            <a:off x="4901107" y="3078187"/>
            <a:ext cx="991228" cy="115512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State update</a:t>
            </a:r>
            <a:endParaRPr lang="zh-CN" altLang="en-US" sz="70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B8665D8-E1B4-4311-87C9-EB6E7B7FECDA}"/>
              </a:ext>
            </a:extLst>
          </p:cNvPr>
          <p:cNvSpPr/>
          <p:nvPr/>
        </p:nvSpPr>
        <p:spPr bwMode="auto">
          <a:xfrm>
            <a:off x="6266704" y="1349995"/>
            <a:ext cx="740417" cy="2883314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Book</a:t>
            </a:r>
          </a:p>
          <a:p>
            <a:pPr algn="ctr" eaLnBrk="1" hangingPunct="1"/>
            <a:r>
              <a:rPr lang="en-US" altLang="zh-CN" sz="1100" dirty="0"/>
              <a:t>Keeping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AA48DE7-66AC-4A9D-A404-9AA6B3332871}"/>
              </a:ext>
            </a:extLst>
          </p:cNvPr>
          <p:cNvSpPr/>
          <p:nvPr/>
        </p:nvSpPr>
        <p:spPr bwMode="auto">
          <a:xfrm>
            <a:off x="3531363" y="1349995"/>
            <a:ext cx="2360972" cy="118813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200" dirty="0"/>
              <a:t>Track management</a:t>
            </a:r>
          </a:p>
          <a:p>
            <a:pPr algn="ctr" eaLnBrk="1" hangingPunct="1"/>
            <a:r>
              <a:rPr lang="en-US" altLang="zh-CN" sz="1200" dirty="0"/>
              <a:t>(Track </a:t>
            </a:r>
            <a:r>
              <a:rPr lang="en-US" altLang="zh-CN" sz="1200" dirty="0" err="1"/>
              <a:t>init.</a:t>
            </a:r>
            <a:r>
              <a:rPr lang="en-US" altLang="zh-CN" sz="1200" dirty="0"/>
              <a:t> included)</a:t>
            </a:r>
            <a:endParaRPr lang="zh-CN" altLang="en-US" sz="800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0FBE1FD-A4F7-4C7F-B800-BE4F5FE2FED4}"/>
              </a:ext>
            </a:extLst>
          </p:cNvPr>
          <p:cNvSpPr/>
          <p:nvPr/>
        </p:nvSpPr>
        <p:spPr bwMode="auto">
          <a:xfrm>
            <a:off x="7398736" y="3006179"/>
            <a:ext cx="936104" cy="1227130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Barrier</a:t>
            </a:r>
          </a:p>
          <a:p>
            <a:pPr algn="ctr" eaLnBrk="1" hangingPunct="1"/>
            <a:r>
              <a:rPr lang="en-US" altLang="zh-CN" sz="1100" dirty="0"/>
              <a:t>estimation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9D834F6-160E-435E-96BA-08B3F5D077AB}"/>
              </a:ext>
            </a:extLst>
          </p:cNvPr>
          <p:cNvSpPr/>
          <p:nvPr/>
        </p:nvSpPr>
        <p:spPr bwMode="auto">
          <a:xfrm>
            <a:off x="7398736" y="1349995"/>
            <a:ext cx="936104" cy="1227130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Confidence assessment</a:t>
            </a: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BA71D232-E97A-44F8-8EFA-8BEDA9AB0C55}"/>
              </a:ext>
            </a:extLst>
          </p:cNvPr>
          <p:cNvCxnSpPr>
            <a:cxnSpLocks/>
          </p:cNvCxnSpPr>
          <p:nvPr/>
        </p:nvCxnSpPr>
        <p:spPr bwMode="auto">
          <a:xfrm>
            <a:off x="395536" y="2718147"/>
            <a:ext cx="532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1B4DEAAE-966A-4E43-AC8E-48197F924AB4}"/>
              </a:ext>
            </a:extLst>
          </p:cNvPr>
          <p:cNvCxnSpPr>
            <a:cxnSpLocks/>
          </p:cNvCxnSpPr>
          <p:nvPr/>
        </p:nvCxnSpPr>
        <p:spPr bwMode="auto">
          <a:xfrm>
            <a:off x="395536" y="3654251"/>
            <a:ext cx="532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5F179419-85C2-4966-9EBF-68BC62BDE9DF}"/>
              </a:ext>
            </a:extLst>
          </p:cNvPr>
          <p:cNvCxnSpPr>
            <a:cxnSpLocks/>
          </p:cNvCxnSpPr>
          <p:nvPr/>
        </p:nvCxnSpPr>
        <p:spPr bwMode="auto">
          <a:xfrm>
            <a:off x="467544" y="1805491"/>
            <a:ext cx="1530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C5D43F42-5E1D-412F-A1D0-34238C102563}"/>
              </a:ext>
            </a:extLst>
          </p:cNvPr>
          <p:cNvCxnSpPr/>
          <p:nvPr/>
        </p:nvCxnSpPr>
        <p:spPr bwMode="auto">
          <a:xfrm>
            <a:off x="1614656" y="3150195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7E57DA10-9C1E-4A37-B09A-C47E56C25149}"/>
              </a:ext>
            </a:extLst>
          </p:cNvPr>
          <p:cNvCxnSpPr>
            <a:cxnSpLocks/>
          </p:cNvCxnSpPr>
          <p:nvPr/>
        </p:nvCxnSpPr>
        <p:spPr bwMode="auto">
          <a:xfrm>
            <a:off x="3160312" y="1926059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D44F9E1E-8DB2-4B9D-8DBB-7DE92E08A879}"/>
              </a:ext>
            </a:extLst>
          </p:cNvPr>
          <p:cNvCxnSpPr>
            <a:cxnSpLocks/>
          </p:cNvCxnSpPr>
          <p:nvPr/>
        </p:nvCxnSpPr>
        <p:spPr bwMode="auto">
          <a:xfrm>
            <a:off x="3160312" y="3642653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40B6FD4F-2C77-4671-BA94-498B80275E7D}"/>
              </a:ext>
            </a:extLst>
          </p:cNvPr>
          <p:cNvCxnSpPr>
            <a:cxnSpLocks/>
          </p:cNvCxnSpPr>
          <p:nvPr/>
        </p:nvCxnSpPr>
        <p:spPr bwMode="auto">
          <a:xfrm>
            <a:off x="4530056" y="3654251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F4A517FF-8F7D-40CB-A9B8-8058FACDDC8C}"/>
              </a:ext>
            </a:extLst>
          </p:cNvPr>
          <p:cNvCxnSpPr>
            <a:cxnSpLocks/>
          </p:cNvCxnSpPr>
          <p:nvPr/>
        </p:nvCxnSpPr>
        <p:spPr bwMode="auto">
          <a:xfrm>
            <a:off x="5892335" y="1937908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36076E4C-4FCD-42DF-97E8-3356ACBC1278}"/>
              </a:ext>
            </a:extLst>
          </p:cNvPr>
          <p:cNvCxnSpPr>
            <a:cxnSpLocks/>
          </p:cNvCxnSpPr>
          <p:nvPr/>
        </p:nvCxnSpPr>
        <p:spPr bwMode="auto">
          <a:xfrm>
            <a:off x="7016667" y="1942993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0BE59866-F58B-4FD3-9FCC-EB5A43D21E1E}"/>
              </a:ext>
            </a:extLst>
          </p:cNvPr>
          <p:cNvCxnSpPr>
            <a:cxnSpLocks/>
          </p:cNvCxnSpPr>
          <p:nvPr/>
        </p:nvCxnSpPr>
        <p:spPr bwMode="auto">
          <a:xfrm>
            <a:off x="7021691" y="3677701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33F4EE9A-E4DB-4649-A798-E4FD15F3EB14}"/>
              </a:ext>
            </a:extLst>
          </p:cNvPr>
          <p:cNvCxnSpPr>
            <a:cxnSpLocks/>
            <a:stCxn id="78" idx="0"/>
          </p:cNvCxnSpPr>
          <p:nvPr/>
        </p:nvCxnSpPr>
        <p:spPr bwMode="auto">
          <a:xfrm flipV="1">
            <a:off x="5396721" y="2538127"/>
            <a:ext cx="0" cy="540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5E891B06-BF06-4460-A043-AF99B8124ABB}"/>
              </a:ext>
            </a:extLst>
          </p:cNvPr>
          <p:cNvCxnSpPr>
            <a:cxnSpLocks/>
            <a:endCxn id="76" idx="0"/>
          </p:cNvCxnSpPr>
          <p:nvPr/>
        </p:nvCxnSpPr>
        <p:spPr bwMode="auto">
          <a:xfrm>
            <a:off x="4029914" y="2538127"/>
            <a:ext cx="0" cy="540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BC64E6FB-3957-4C6D-9634-522DED344DA9}"/>
              </a:ext>
            </a:extLst>
          </p:cNvPr>
          <p:cNvCxnSpPr/>
          <p:nvPr/>
        </p:nvCxnSpPr>
        <p:spPr bwMode="auto">
          <a:xfrm>
            <a:off x="8334840" y="1963560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2FD92314-C8BD-41DB-A88D-F350123CF99C}"/>
              </a:ext>
            </a:extLst>
          </p:cNvPr>
          <p:cNvCxnSpPr/>
          <p:nvPr/>
        </p:nvCxnSpPr>
        <p:spPr bwMode="auto">
          <a:xfrm>
            <a:off x="8339864" y="3677701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68B6CBB-1438-4557-B881-611449D09EBC}"/>
              </a:ext>
            </a:extLst>
          </p:cNvPr>
          <p:cNvSpPr txBox="1"/>
          <p:nvPr/>
        </p:nvSpPr>
        <p:spPr>
          <a:xfrm>
            <a:off x="315101" y="1543881"/>
            <a:ext cx="944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Ego Motion</a:t>
            </a:r>
            <a:endParaRPr lang="zh-CN" altLang="en-US" sz="11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72A6E25C-7DEE-4A99-926B-C68CA91B2344}"/>
              </a:ext>
            </a:extLst>
          </p:cNvPr>
          <p:cNvSpPr txBox="1"/>
          <p:nvPr/>
        </p:nvSpPr>
        <p:spPr>
          <a:xfrm>
            <a:off x="220690" y="2502703"/>
            <a:ext cx="9445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Vision Detection</a:t>
            </a:r>
            <a:endParaRPr lang="zh-CN" altLang="en-US" sz="11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96F8699-D7CC-4083-BA4B-0F0B385DBB97}"/>
              </a:ext>
            </a:extLst>
          </p:cNvPr>
          <p:cNvSpPr txBox="1"/>
          <p:nvPr/>
        </p:nvSpPr>
        <p:spPr>
          <a:xfrm>
            <a:off x="217955" y="3438227"/>
            <a:ext cx="9445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Radar Detection</a:t>
            </a:r>
            <a:endParaRPr lang="zh-CN" altLang="en-US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873D20-039F-4A14-8941-F8BD9F2A07F3}"/>
              </a:ext>
            </a:extLst>
          </p:cNvPr>
          <p:cNvSpPr/>
          <p:nvPr/>
        </p:nvSpPr>
        <p:spPr bwMode="auto">
          <a:xfrm>
            <a:off x="3422742" y="1265963"/>
            <a:ext cx="2569246" cy="1373452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824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2339752" y="52425"/>
            <a:ext cx="3528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2400" dirty="0"/>
              <a:t>Track management</a:t>
            </a:r>
            <a:endParaRPr lang="zh-CN" altLang="en-US" sz="8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B3A4B1-DC1D-426F-AE3A-C4F0FAB3D8B6}"/>
              </a:ext>
            </a:extLst>
          </p:cNvPr>
          <p:cNvSpPr/>
          <p:nvPr/>
        </p:nvSpPr>
        <p:spPr>
          <a:xfrm>
            <a:off x="395536" y="538892"/>
            <a:ext cx="4464496" cy="4241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All the unused vision tracks will initialize a new vision-only FUSION track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All the unused radar tracks should be clustered together first and then initialize radar-only FUSION track based these clusters.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Grouping similar tracks into one track. </a:t>
            </a:r>
          </a:p>
          <a:p>
            <a:pPr marL="705871" lvl="1" indent="-342900">
              <a:lnSpc>
                <a:spcPct val="107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We want one track for each object, especially for truck.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05871" lvl="1" indent="-342900">
              <a:lnSpc>
                <a:spcPct val="107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After grouping, the ID, state and extension of the track need to be updated again.</a:t>
            </a:r>
          </a:p>
          <a:p>
            <a:pPr marL="705871" lvl="1" indent="-342900">
              <a:lnSpc>
                <a:spcPct val="107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Split the track if it gets too big.</a:t>
            </a:r>
          </a:p>
          <a:p>
            <a:pPr lvl="0">
              <a:lnSpc>
                <a:spcPct val="107000"/>
              </a:lnSpc>
              <a:spcAft>
                <a:spcPts val="0"/>
              </a:spcAft>
            </a:pPr>
            <a:endParaRPr lang="zh-CN" altLang="zh-CN" sz="18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Star: 4 Points 2"/>
          <p:cNvSpPr/>
          <p:nvPr/>
        </p:nvSpPr>
        <p:spPr bwMode="auto">
          <a:xfrm>
            <a:off x="5073060" y="1977617"/>
            <a:ext cx="288032" cy="288032"/>
          </a:xfrm>
          <a:prstGeom prst="star4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7" name="Star: 4 Points 6"/>
          <p:cNvSpPr/>
          <p:nvPr/>
        </p:nvSpPr>
        <p:spPr bwMode="auto">
          <a:xfrm>
            <a:off x="5426451" y="2265649"/>
            <a:ext cx="288032" cy="288032"/>
          </a:xfrm>
          <a:prstGeom prst="star4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8" name="Star: 4 Points 7"/>
          <p:cNvSpPr/>
          <p:nvPr/>
        </p:nvSpPr>
        <p:spPr bwMode="auto">
          <a:xfrm>
            <a:off x="5505108" y="1823239"/>
            <a:ext cx="288032" cy="288032"/>
          </a:xfrm>
          <a:prstGeom prst="star4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9" name="Star: 4 Points 8"/>
          <p:cNvSpPr/>
          <p:nvPr/>
        </p:nvSpPr>
        <p:spPr bwMode="auto">
          <a:xfrm>
            <a:off x="5070126" y="906412"/>
            <a:ext cx="288032" cy="288032"/>
          </a:xfrm>
          <a:prstGeom prst="star4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" name="Star: 4 Points 9"/>
          <p:cNvSpPr/>
          <p:nvPr/>
        </p:nvSpPr>
        <p:spPr bwMode="auto">
          <a:xfrm>
            <a:off x="5533535" y="896050"/>
            <a:ext cx="288032" cy="288032"/>
          </a:xfrm>
          <a:prstGeom prst="star4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88148" y="2691395"/>
            <a:ext cx="1377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Radar track</a:t>
            </a:r>
            <a:endParaRPr lang="zh-CN" altLang="en-US" dirty="0"/>
          </a:p>
        </p:txBody>
      </p:sp>
      <p:cxnSp>
        <p:nvCxnSpPr>
          <p:cNvPr id="5" name="Straight Arrow Connector 4"/>
          <p:cNvCxnSpPr>
            <a:stCxn id="12" idx="0"/>
          </p:cNvCxnSpPr>
          <p:nvPr/>
        </p:nvCxnSpPr>
        <p:spPr bwMode="auto">
          <a:xfrm flipH="1" flipV="1">
            <a:off x="5240653" y="2250837"/>
            <a:ext cx="136145" cy="4405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 bwMode="auto">
          <a:xfrm>
            <a:off x="4929044" y="734466"/>
            <a:ext cx="1117764" cy="667087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4946226" y="1719327"/>
            <a:ext cx="1117764" cy="913514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844149" y="1433410"/>
            <a:ext cx="1031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Clusters</a:t>
            </a:r>
            <a:endParaRPr lang="zh-CN" altLang="en-US" dirty="0"/>
          </a:p>
        </p:txBody>
      </p:sp>
      <p:cxnSp>
        <p:nvCxnSpPr>
          <p:cNvPr id="15" name="Straight Arrow Connector 14"/>
          <p:cNvCxnSpPr/>
          <p:nvPr/>
        </p:nvCxnSpPr>
        <p:spPr bwMode="auto">
          <a:xfrm flipH="1">
            <a:off x="6066905" y="1788340"/>
            <a:ext cx="285117" cy="3749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/>
          <p:cNvCxnSpPr>
            <a:stCxn id="18" idx="0"/>
          </p:cNvCxnSpPr>
          <p:nvPr/>
        </p:nvCxnSpPr>
        <p:spPr bwMode="auto">
          <a:xfrm flipH="1" flipV="1">
            <a:off x="6063991" y="1114994"/>
            <a:ext cx="295684" cy="3184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Arrow: Right 18"/>
          <p:cNvSpPr/>
          <p:nvPr/>
        </p:nvSpPr>
        <p:spPr bwMode="auto">
          <a:xfrm>
            <a:off x="6333517" y="946621"/>
            <a:ext cx="1316322" cy="25684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5" name="Arrow: Right 24"/>
          <p:cNvSpPr/>
          <p:nvPr/>
        </p:nvSpPr>
        <p:spPr bwMode="auto">
          <a:xfrm>
            <a:off x="6352022" y="2111271"/>
            <a:ext cx="1316322" cy="25684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799539" y="883343"/>
            <a:ext cx="8769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Fusion </a:t>
            </a:r>
          </a:p>
          <a:p>
            <a:pPr algn="ctr"/>
            <a:r>
              <a:rPr lang="en-US" altLang="zh-CN" dirty="0"/>
              <a:t>Track </a:t>
            </a:r>
            <a:r>
              <a:rPr lang="en-US" altLang="zh-CN" dirty="0" err="1"/>
              <a:t>i</a:t>
            </a:r>
            <a:endParaRPr lang="zh-CN" altLang="en-US" dirty="0"/>
          </a:p>
        </p:txBody>
      </p:sp>
      <p:sp>
        <p:nvSpPr>
          <p:cNvPr id="28" name="Rectangle 27"/>
          <p:cNvSpPr/>
          <p:nvPr/>
        </p:nvSpPr>
        <p:spPr>
          <a:xfrm>
            <a:off x="7799539" y="1899890"/>
            <a:ext cx="8769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Fusion </a:t>
            </a:r>
          </a:p>
          <a:p>
            <a:pPr algn="ctr"/>
            <a:r>
              <a:rPr lang="en-US" altLang="zh-CN" dirty="0"/>
              <a:t>Track j</a:t>
            </a:r>
            <a:endParaRPr lang="zh-CN" altLang="en-US" dirty="0"/>
          </a:p>
        </p:txBody>
      </p:sp>
      <p:sp>
        <p:nvSpPr>
          <p:cNvPr id="20" name="Rectangle 19"/>
          <p:cNvSpPr/>
          <p:nvPr/>
        </p:nvSpPr>
        <p:spPr bwMode="auto">
          <a:xfrm>
            <a:off x="5195711" y="3798267"/>
            <a:ext cx="230740" cy="36004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5346641" y="4367042"/>
            <a:ext cx="230740" cy="36004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5052707" y="4187022"/>
            <a:ext cx="230740" cy="36004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2" name="Oval 31"/>
          <p:cNvSpPr/>
          <p:nvPr/>
        </p:nvSpPr>
        <p:spPr bwMode="auto">
          <a:xfrm>
            <a:off x="4750381" y="3661418"/>
            <a:ext cx="1117764" cy="1249371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87145" y="4862972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Fusion track</a:t>
            </a:r>
            <a:endParaRPr lang="zh-CN" altLang="en-US" dirty="0"/>
          </a:p>
        </p:txBody>
      </p:sp>
      <p:cxnSp>
        <p:nvCxnSpPr>
          <p:cNvPr id="34" name="Straight Arrow Connector 33"/>
          <p:cNvCxnSpPr/>
          <p:nvPr/>
        </p:nvCxnSpPr>
        <p:spPr bwMode="auto">
          <a:xfrm flipV="1">
            <a:off x="4853245" y="4684281"/>
            <a:ext cx="454609" cy="2968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Arrow: Right 35"/>
          <p:cNvSpPr/>
          <p:nvPr/>
        </p:nvSpPr>
        <p:spPr bwMode="auto">
          <a:xfrm>
            <a:off x="6199487" y="4168381"/>
            <a:ext cx="1316322" cy="25684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253927" y="1069360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Initialization</a:t>
            </a:r>
            <a:endParaRPr lang="zh-CN" altLang="en-US" dirty="0"/>
          </a:p>
        </p:txBody>
      </p:sp>
      <p:sp>
        <p:nvSpPr>
          <p:cNvPr id="38" name="Rectangle 37"/>
          <p:cNvSpPr/>
          <p:nvPr/>
        </p:nvSpPr>
        <p:spPr>
          <a:xfrm>
            <a:off x="6278220" y="1813958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Initialization</a:t>
            </a:r>
            <a:endParaRPr lang="zh-CN" altLang="en-US" dirty="0"/>
          </a:p>
        </p:txBody>
      </p:sp>
      <p:sp>
        <p:nvSpPr>
          <p:cNvPr id="42" name="Rectangle 41"/>
          <p:cNvSpPr/>
          <p:nvPr/>
        </p:nvSpPr>
        <p:spPr>
          <a:xfrm>
            <a:off x="6253927" y="3916771"/>
            <a:ext cx="1133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Grouping</a:t>
            </a:r>
            <a:endParaRPr lang="zh-CN" altLang="en-US" dirty="0"/>
          </a:p>
        </p:txBody>
      </p:sp>
      <p:sp>
        <p:nvSpPr>
          <p:cNvPr id="43" name="Rectangle 42"/>
          <p:cNvSpPr/>
          <p:nvPr/>
        </p:nvSpPr>
        <p:spPr bwMode="auto">
          <a:xfrm>
            <a:off x="7913979" y="3798267"/>
            <a:ext cx="613281" cy="115417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080549" y="409678"/>
            <a:ext cx="3954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Fusion track initialization from radar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7588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2102085" y="31639"/>
            <a:ext cx="4535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2400" dirty="0"/>
              <a:t>Track management, continued</a:t>
            </a:r>
            <a:endParaRPr lang="zh-CN" altLang="en-US" sz="800" dirty="0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2F7EA759-2B1B-43C4-9CC8-EAB505254AFB}"/>
              </a:ext>
            </a:extLst>
          </p:cNvPr>
          <p:cNvSpPr/>
          <p:nvPr/>
        </p:nvSpPr>
        <p:spPr bwMode="auto">
          <a:xfrm>
            <a:off x="6692462" y="283258"/>
            <a:ext cx="477595" cy="209786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4C516C5-A829-47C9-B814-4D041482DFC6}"/>
              </a:ext>
            </a:extLst>
          </p:cNvPr>
          <p:cNvSpPr txBox="1"/>
          <p:nvPr/>
        </p:nvSpPr>
        <p:spPr>
          <a:xfrm>
            <a:off x="7224985" y="251517"/>
            <a:ext cx="849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22HZ</a:t>
            </a:r>
            <a:endParaRPr lang="zh-CN" altLang="en-US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B3A4B1-DC1D-426F-AE3A-C4F0FAB3D8B6}"/>
              </a:ext>
            </a:extLst>
          </p:cNvPr>
          <p:cNvSpPr/>
          <p:nvPr/>
        </p:nvSpPr>
        <p:spPr>
          <a:xfrm>
            <a:off x="467544" y="485899"/>
            <a:ext cx="2952328" cy="27596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4. Prune tracks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05871" lvl="1" indent="-342900">
              <a:lnSpc>
                <a:spcPct val="107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Low quality tracks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05871" lvl="1" indent="-342900">
              <a:lnSpc>
                <a:spcPct val="107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Suspicious tracks</a:t>
            </a:r>
          </a:p>
          <a:p>
            <a:pPr>
              <a:lnSpc>
                <a:spcPct val="107000"/>
              </a:lnSpc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5. Maintain the alive ID list and available ID list</a:t>
            </a:r>
          </a:p>
          <a:p>
            <a:pPr marL="705871" lvl="1" indent="-342900">
              <a:lnSpc>
                <a:spcPct val="107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New track generated</a:t>
            </a:r>
          </a:p>
          <a:p>
            <a:pPr marL="705871" lvl="1" indent="-342900">
              <a:lnSpc>
                <a:spcPct val="107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Track terminated</a:t>
            </a:r>
          </a:p>
          <a:p>
            <a:pPr marL="705871" lvl="1" indent="-342900">
              <a:lnSpc>
                <a:spcPct val="107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Tracks get grouped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0"/>
              </a:spcAft>
            </a:pPr>
            <a:endParaRPr lang="zh-CN" altLang="zh-CN" sz="18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矩形 1">
            <a:extLst/>
          </p:cNvPr>
          <p:cNvSpPr/>
          <p:nvPr/>
        </p:nvSpPr>
        <p:spPr>
          <a:xfrm>
            <a:off x="420154" y="2770313"/>
            <a:ext cx="3600400" cy="1619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Input: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Fusion object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Vision track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Radar track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Fusion system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 err="1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Cals</a:t>
            </a:r>
            <a:endParaRPr lang="en-US" altLang="zh-CN" sz="1600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矩形 1">
            <a:extLst/>
          </p:cNvPr>
          <p:cNvSpPr/>
          <p:nvPr/>
        </p:nvSpPr>
        <p:spPr>
          <a:xfrm>
            <a:off x="353025" y="4298826"/>
            <a:ext cx="3600400" cy="1127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Output: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Fusion object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Fusion system structure</a:t>
            </a:r>
          </a:p>
          <a:p>
            <a:pPr lvl="1"/>
            <a:endParaRPr lang="en-US" altLang="zh-CN" sz="1600" dirty="0"/>
          </a:p>
        </p:txBody>
      </p:sp>
      <p:sp>
        <p:nvSpPr>
          <p:cNvPr id="41" name="Rectangle 40"/>
          <p:cNvSpPr/>
          <p:nvPr/>
        </p:nvSpPr>
        <p:spPr bwMode="auto">
          <a:xfrm>
            <a:off x="7211323" y="1186239"/>
            <a:ext cx="230740" cy="36004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7298010" y="1714426"/>
            <a:ext cx="409574" cy="7293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481117" y="2112473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Fusion track</a:t>
            </a:r>
            <a:endParaRPr lang="zh-CN" altLang="en-US" dirty="0"/>
          </a:p>
        </p:txBody>
      </p:sp>
      <p:sp>
        <p:nvSpPr>
          <p:cNvPr id="48" name="Arrow: Right 47"/>
          <p:cNvSpPr/>
          <p:nvPr/>
        </p:nvSpPr>
        <p:spPr bwMode="auto">
          <a:xfrm>
            <a:off x="4828934" y="1326384"/>
            <a:ext cx="1920043" cy="25684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472203" y="1029230"/>
            <a:ext cx="633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Split</a:t>
            </a:r>
            <a:endParaRPr lang="zh-CN" altLang="en-US" dirty="0"/>
          </a:p>
        </p:txBody>
      </p:sp>
      <p:sp>
        <p:nvSpPr>
          <p:cNvPr id="50" name="Rectangle 49"/>
          <p:cNvSpPr/>
          <p:nvPr/>
        </p:nvSpPr>
        <p:spPr bwMode="auto">
          <a:xfrm>
            <a:off x="3832276" y="946505"/>
            <a:ext cx="613281" cy="115417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504553" y="566669"/>
            <a:ext cx="14991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Fusion tracks</a:t>
            </a:r>
            <a:endParaRPr lang="zh-CN" altLang="en-US" dirty="0"/>
          </a:p>
        </p:txBody>
      </p:sp>
      <p:cxnSp>
        <p:nvCxnSpPr>
          <p:cNvPr id="6" name="Straight Arrow Connector 5"/>
          <p:cNvCxnSpPr/>
          <p:nvPr/>
        </p:nvCxnSpPr>
        <p:spPr bwMode="auto">
          <a:xfrm flipH="1">
            <a:off x="7502797" y="1036967"/>
            <a:ext cx="309563" cy="1846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Straight Arrow Connector 51"/>
          <p:cNvCxnSpPr/>
          <p:nvPr/>
        </p:nvCxnSpPr>
        <p:spPr bwMode="auto">
          <a:xfrm flipH="1">
            <a:off x="7757662" y="1177933"/>
            <a:ext cx="257177" cy="7366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" name="Oval 52"/>
          <p:cNvSpPr/>
          <p:nvPr/>
        </p:nvSpPr>
        <p:spPr bwMode="auto">
          <a:xfrm>
            <a:off x="4193652" y="2559579"/>
            <a:ext cx="706468" cy="2265895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4" name="Oval 53"/>
          <p:cNvSpPr/>
          <p:nvPr/>
        </p:nvSpPr>
        <p:spPr bwMode="auto">
          <a:xfrm>
            <a:off x="6591542" y="2570749"/>
            <a:ext cx="706468" cy="2265895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367548" y="2872235"/>
            <a:ext cx="415498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1</a:t>
            </a:r>
          </a:p>
          <a:p>
            <a:pPr algn="ctr"/>
            <a:r>
              <a:rPr lang="en-US" altLang="zh-CN" dirty="0"/>
              <a:t>3</a:t>
            </a:r>
          </a:p>
          <a:p>
            <a:pPr algn="ctr"/>
            <a:r>
              <a:rPr lang="en-US" altLang="zh-CN" dirty="0"/>
              <a:t>4</a:t>
            </a:r>
          </a:p>
          <a:p>
            <a:pPr algn="ctr"/>
            <a:r>
              <a:rPr lang="en-US" altLang="zh-CN" dirty="0"/>
              <a:t>…</a:t>
            </a:r>
          </a:p>
          <a:p>
            <a:pPr algn="ctr"/>
            <a:endParaRPr lang="en-US" altLang="zh-CN" dirty="0"/>
          </a:p>
        </p:txBody>
      </p:sp>
      <p:sp>
        <p:nvSpPr>
          <p:cNvPr id="56" name="Rectangle 55"/>
          <p:cNvSpPr/>
          <p:nvPr/>
        </p:nvSpPr>
        <p:spPr>
          <a:xfrm>
            <a:off x="6724203" y="2800044"/>
            <a:ext cx="441147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15</a:t>
            </a:r>
          </a:p>
          <a:p>
            <a:pPr algn="ctr"/>
            <a:r>
              <a:rPr lang="en-US" altLang="zh-CN" dirty="0"/>
              <a:t>18</a:t>
            </a:r>
          </a:p>
          <a:p>
            <a:pPr algn="ctr"/>
            <a:r>
              <a:rPr lang="en-US" altLang="zh-CN" dirty="0"/>
              <a:t>30</a:t>
            </a:r>
          </a:p>
          <a:p>
            <a:pPr algn="ctr"/>
            <a:r>
              <a:rPr lang="en-US" altLang="zh-CN" dirty="0"/>
              <a:t>…</a:t>
            </a:r>
          </a:p>
          <a:p>
            <a:pPr algn="ctr"/>
            <a:endParaRPr lang="en-US" altLang="zh-CN" dirty="0"/>
          </a:p>
        </p:txBody>
      </p:sp>
      <p:sp>
        <p:nvSpPr>
          <p:cNvPr id="57" name="Rectangle 56"/>
          <p:cNvSpPr/>
          <p:nvPr/>
        </p:nvSpPr>
        <p:spPr>
          <a:xfrm>
            <a:off x="3863203" y="4810642"/>
            <a:ext cx="132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Alive ID list</a:t>
            </a:r>
            <a:endParaRPr lang="zh-CN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6165656" y="4836644"/>
            <a:ext cx="1757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Available ID list</a:t>
            </a:r>
            <a:endParaRPr lang="zh-CN" altLang="en-US" dirty="0"/>
          </a:p>
        </p:txBody>
      </p:sp>
      <p:sp>
        <p:nvSpPr>
          <p:cNvPr id="59" name="Arrow: Right 58"/>
          <p:cNvSpPr/>
          <p:nvPr/>
        </p:nvSpPr>
        <p:spPr bwMode="auto">
          <a:xfrm>
            <a:off x="4915707" y="3068513"/>
            <a:ext cx="1684991" cy="25684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60" name="Arrow: Right 59"/>
          <p:cNvSpPr/>
          <p:nvPr/>
        </p:nvSpPr>
        <p:spPr bwMode="auto">
          <a:xfrm flipH="1">
            <a:off x="4906551" y="4192159"/>
            <a:ext cx="1669404" cy="25684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940366" y="2551771"/>
            <a:ext cx="14670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Track killed</a:t>
            </a:r>
          </a:p>
          <a:p>
            <a:pPr algn="ctr"/>
            <a:r>
              <a:rPr lang="en-US" altLang="zh-CN" dirty="0"/>
              <a:t>return the ID</a:t>
            </a:r>
            <a:endParaRPr lang="zh-CN" altLang="en-US" dirty="0"/>
          </a:p>
        </p:txBody>
      </p:sp>
      <p:sp>
        <p:nvSpPr>
          <p:cNvPr id="62" name="Rectangle 61"/>
          <p:cNvSpPr/>
          <p:nvPr/>
        </p:nvSpPr>
        <p:spPr>
          <a:xfrm>
            <a:off x="5129493" y="3638454"/>
            <a:ext cx="12747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New Track</a:t>
            </a:r>
          </a:p>
          <a:p>
            <a:pPr algn="ctr"/>
            <a:r>
              <a:rPr lang="en-US" altLang="zh-CN" dirty="0"/>
              <a:t>get an ID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1682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1403647" y="557907"/>
            <a:ext cx="5705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Software Architecture of</a:t>
            </a:r>
            <a:r>
              <a:rPr lang="zh-CN" altLang="en-US" sz="2400" dirty="0"/>
              <a:t> </a:t>
            </a:r>
            <a:r>
              <a:rPr lang="en-US" altLang="zh-CN" sz="2400" dirty="0"/>
              <a:t>sensor</a:t>
            </a:r>
            <a:r>
              <a:rPr lang="zh-CN" altLang="en-US" sz="2400" dirty="0"/>
              <a:t> </a:t>
            </a:r>
            <a:r>
              <a:rPr lang="en-US" altLang="zh-CN" sz="2400" dirty="0"/>
              <a:t>fusion</a:t>
            </a:r>
            <a:endParaRPr lang="zh-CN" altLang="en-US" sz="24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6DE47BE-DDA8-4C8E-9B97-EE3621FD48E7}"/>
              </a:ext>
            </a:extLst>
          </p:cNvPr>
          <p:cNvSpPr/>
          <p:nvPr/>
        </p:nvSpPr>
        <p:spPr bwMode="auto">
          <a:xfrm>
            <a:off x="928064" y="2214091"/>
            <a:ext cx="676096" cy="2019218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Senor</a:t>
            </a:r>
          </a:p>
          <a:p>
            <a:pPr algn="ctr" eaLnBrk="1" hangingPunct="1"/>
            <a:r>
              <a:rPr lang="en-US" altLang="zh-CN" sz="1100" dirty="0"/>
              <a:t>data</a:t>
            </a:r>
          </a:p>
          <a:p>
            <a:pPr algn="ctr" eaLnBrk="1" hangingPunct="1"/>
            <a:r>
              <a:rPr lang="en-US" altLang="zh-CN" sz="1100" dirty="0"/>
              <a:t>adaptor</a:t>
            </a:r>
            <a:endParaRPr lang="zh-CN" altLang="en-US" sz="700" dirty="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F8AE557-0264-485B-8227-40C9D2F147B3}"/>
              </a:ext>
            </a:extLst>
          </p:cNvPr>
          <p:cNvSpPr/>
          <p:nvPr/>
        </p:nvSpPr>
        <p:spPr bwMode="auto">
          <a:xfrm>
            <a:off x="2008184" y="1351748"/>
            <a:ext cx="1152128" cy="2883314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Measurement</a:t>
            </a:r>
          </a:p>
          <a:p>
            <a:pPr algn="ctr" eaLnBrk="1" hangingPunct="1"/>
            <a:r>
              <a:rPr lang="en-US" altLang="zh-CN" sz="1100" dirty="0"/>
              <a:t>time stamp</a:t>
            </a:r>
          </a:p>
          <a:p>
            <a:pPr algn="ctr" eaLnBrk="1" hangingPunct="1"/>
            <a:r>
              <a:rPr lang="en-US" altLang="zh-CN" sz="1100" dirty="0"/>
              <a:t>management</a:t>
            </a:r>
            <a:endParaRPr lang="zh-CN" altLang="en-US" sz="700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0EBECE9-7BA4-4CBB-B7C7-CB4BC529F496}"/>
              </a:ext>
            </a:extLst>
          </p:cNvPr>
          <p:cNvSpPr/>
          <p:nvPr/>
        </p:nvSpPr>
        <p:spPr bwMode="auto">
          <a:xfrm>
            <a:off x="3531363" y="3078187"/>
            <a:ext cx="997101" cy="115512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Association</a:t>
            </a:r>
            <a:endParaRPr lang="zh-CN" altLang="en-US" sz="70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E7DFC8B-F62C-49A9-B766-DF638EE2DE8B}"/>
              </a:ext>
            </a:extLst>
          </p:cNvPr>
          <p:cNvSpPr/>
          <p:nvPr/>
        </p:nvSpPr>
        <p:spPr bwMode="auto">
          <a:xfrm>
            <a:off x="4901107" y="3078187"/>
            <a:ext cx="991228" cy="115512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State update</a:t>
            </a:r>
            <a:endParaRPr lang="zh-CN" altLang="en-US" sz="70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B8665D8-E1B4-4311-87C9-EB6E7B7FECDA}"/>
              </a:ext>
            </a:extLst>
          </p:cNvPr>
          <p:cNvSpPr/>
          <p:nvPr/>
        </p:nvSpPr>
        <p:spPr bwMode="auto">
          <a:xfrm>
            <a:off x="6266704" y="1349995"/>
            <a:ext cx="740417" cy="2883314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Book</a:t>
            </a:r>
          </a:p>
          <a:p>
            <a:pPr algn="ctr" eaLnBrk="1" hangingPunct="1"/>
            <a:r>
              <a:rPr lang="en-US" altLang="zh-CN" sz="1100" dirty="0"/>
              <a:t>Keeping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AA48DE7-66AC-4A9D-A404-9AA6B3332871}"/>
              </a:ext>
            </a:extLst>
          </p:cNvPr>
          <p:cNvSpPr/>
          <p:nvPr/>
        </p:nvSpPr>
        <p:spPr bwMode="auto">
          <a:xfrm>
            <a:off x="3531363" y="1349995"/>
            <a:ext cx="2360972" cy="118813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200" dirty="0"/>
              <a:t>Track management</a:t>
            </a:r>
          </a:p>
          <a:p>
            <a:pPr algn="ctr" eaLnBrk="1" hangingPunct="1"/>
            <a:r>
              <a:rPr lang="en-US" altLang="zh-CN" sz="1200" dirty="0"/>
              <a:t>(Track </a:t>
            </a:r>
            <a:r>
              <a:rPr lang="en-US" altLang="zh-CN" sz="1200" dirty="0" err="1"/>
              <a:t>init.</a:t>
            </a:r>
            <a:r>
              <a:rPr lang="en-US" altLang="zh-CN" sz="1200" dirty="0"/>
              <a:t> included)</a:t>
            </a:r>
            <a:endParaRPr lang="zh-CN" altLang="en-US" sz="800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0FBE1FD-A4F7-4C7F-B800-BE4F5FE2FED4}"/>
              </a:ext>
            </a:extLst>
          </p:cNvPr>
          <p:cNvSpPr/>
          <p:nvPr/>
        </p:nvSpPr>
        <p:spPr bwMode="auto">
          <a:xfrm>
            <a:off x="7398736" y="3006179"/>
            <a:ext cx="936104" cy="1227130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Barrier</a:t>
            </a:r>
          </a:p>
          <a:p>
            <a:pPr algn="ctr" eaLnBrk="1" hangingPunct="1"/>
            <a:r>
              <a:rPr lang="en-US" altLang="zh-CN" sz="1100" dirty="0"/>
              <a:t>estimation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9D834F6-160E-435E-96BA-08B3F5D077AB}"/>
              </a:ext>
            </a:extLst>
          </p:cNvPr>
          <p:cNvSpPr/>
          <p:nvPr/>
        </p:nvSpPr>
        <p:spPr bwMode="auto">
          <a:xfrm>
            <a:off x="7398736" y="1349995"/>
            <a:ext cx="936104" cy="1227130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Confidence assessment</a:t>
            </a: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BA71D232-E97A-44F8-8EFA-8BEDA9AB0C55}"/>
              </a:ext>
            </a:extLst>
          </p:cNvPr>
          <p:cNvCxnSpPr>
            <a:cxnSpLocks/>
          </p:cNvCxnSpPr>
          <p:nvPr/>
        </p:nvCxnSpPr>
        <p:spPr bwMode="auto">
          <a:xfrm>
            <a:off x="395536" y="2718147"/>
            <a:ext cx="532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1B4DEAAE-966A-4E43-AC8E-48197F924AB4}"/>
              </a:ext>
            </a:extLst>
          </p:cNvPr>
          <p:cNvCxnSpPr>
            <a:cxnSpLocks/>
          </p:cNvCxnSpPr>
          <p:nvPr/>
        </p:nvCxnSpPr>
        <p:spPr bwMode="auto">
          <a:xfrm>
            <a:off x="395536" y="3654251"/>
            <a:ext cx="532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5F179419-85C2-4966-9EBF-68BC62BDE9DF}"/>
              </a:ext>
            </a:extLst>
          </p:cNvPr>
          <p:cNvCxnSpPr>
            <a:cxnSpLocks/>
          </p:cNvCxnSpPr>
          <p:nvPr/>
        </p:nvCxnSpPr>
        <p:spPr bwMode="auto">
          <a:xfrm>
            <a:off x="467544" y="1805491"/>
            <a:ext cx="1530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C5D43F42-5E1D-412F-A1D0-34238C102563}"/>
              </a:ext>
            </a:extLst>
          </p:cNvPr>
          <p:cNvCxnSpPr/>
          <p:nvPr/>
        </p:nvCxnSpPr>
        <p:spPr bwMode="auto">
          <a:xfrm>
            <a:off x="1614656" y="3150195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7E57DA10-9C1E-4A37-B09A-C47E56C25149}"/>
              </a:ext>
            </a:extLst>
          </p:cNvPr>
          <p:cNvCxnSpPr>
            <a:cxnSpLocks/>
          </p:cNvCxnSpPr>
          <p:nvPr/>
        </p:nvCxnSpPr>
        <p:spPr bwMode="auto">
          <a:xfrm>
            <a:off x="3160312" y="1926059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D44F9E1E-8DB2-4B9D-8DBB-7DE92E08A879}"/>
              </a:ext>
            </a:extLst>
          </p:cNvPr>
          <p:cNvCxnSpPr>
            <a:cxnSpLocks/>
          </p:cNvCxnSpPr>
          <p:nvPr/>
        </p:nvCxnSpPr>
        <p:spPr bwMode="auto">
          <a:xfrm>
            <a:off x="3160312" y="3642653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40B6FD4F-2C77-4671-BA94-498B80275E7D}"/>
              </a:ext>
            </a:extLst>
          </p:cNvPr>
          <p:cNvCxnSpPr>
            <a:cxnSpLocks/>
          </p:cNvCxnSpPr>
          <p:nvPr/>
        </p:nvCxnSpPr>
        <p:spPr bwMode="auto">
          <a:xfrm>
            <a:off x="4530056" y="3654251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F4A517FF-8F7D-40CB-A9B8-8058FACDDC8C}"/>
              </a:ext>
            </a:extLst>
          </p:cNvPr>
          <p:cNvCxnSpPr>
            <a:cxnSpLocks/>
          </p:cNvCxnSpPr>
          <p:nvPr/>
        </p:nvCxnSpPr>
        <p:spPr bwMode="auto">
          <a:xfrm>
            <a:off x="5892335" y="1937908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36076E4C-4FCD-42DF-97E8-3356ACBC1278}"/>
              </a:ext>
            </a:extLst>
          </p:cNvPr>
          <p:cNvCxnSpPr>
            <a:cxnSpLocks/>
          </p:cNvCxnSpPr>
          <p:nvPr/>
        </p:nvCxnSpPr>
        <p:spPr bwMode="auto">
          <a:xfrm>
            <a:off x="7016667" y="1942993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0BE59866-F58B-4FD3-9FCC-EB5A43D21E1E}"/>
              </a:ext>
            </a:extLst>
          </p:cNvPr>
          <p:cNvCxnSpPr>
            <a:cxnSpLocks/>
          </p:cNvCxnSpPr>
          <p:nvPr/>
        </p:nvCxnSpPr>
        <p:spPr bwMode="auto">
          <a:xfrm>
            <a:off x="7021691" y="3677701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33F4EE9A-E4DB-4649-A798-E4FD15F3EB14}"/>
              </a:ext>
            </a:extLst>
          </p:cNvPr>
          <p:cNvCxnSpPr>
            <a:cxnSpLocks/>
            <a:stCxn id="78" idx="0"/>
          </p:cNvCxnSpPr>
          <p:nvPr/>
        </p:nvCxnSpPr>
        <p:spPr bwMode="auto">
          <a:xfrm flipV="1">
            <a:off x="5396721" y="2538127"/>
            <a:ext cx="0" cy="540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5E891B06-BF06-4460-A043-AF99B8124ABB}"/>
              </a:ext>
            </a:extLst>
          </p:cNvPr>
          <p:cNvCxnSpPr>
            <a:cxnSpLocks/>
            <a:endCxn id="76" idx="0"/>
          </p:cNvCxnSpPr>
          <p:nvPr/>
        </p:nvCxnSpPr>
        <p:spPr bwMode="auto">
          <a:xfrm>
            <a:off x="4029914" y="2538127"/>
            <a:ext cx="0" cy="540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BC64E6FB-3957-4C6D-9634-522DED344DA9}"/>
              </a:ext>
            </a:extLst>
          </p:cNvPr>
          <p:cNvCxnSpPr/>
          <p:nvPr/>
        </p:nvCxnSpPr>
        <p:spPr bwMode="auto">
          <a:xfrm>
            <a:off x="8334840" y="1963560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2FD92314-C8BD-41DB-A88D-F350123CF99C}"/>
              </a:ext>
            </a:extLst>
          </p:cNvPr>
          <p:cNvCxnSpPr/>
          <p:nvPr/>
        </p:nvCxnSpPr>
        <p:spPr bwMode="auto">
          <a:xfrm>
            <a:off x="8339864" y="3677701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68B6CBB-1438-4557-B881-611449D09EBC}"/>
              </a:ext>
            </a:extLst>
          </p:cNvPr>
          <p:cNvSpPr txBox="1"/>
          <p:nvPr/>
        </p:nvSpPr>
        <p:spPr>
          <a:xfrm>
            <a:off x="315101" y="1543881"/>
            <a:ext cx="944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Ego Motion</a:t>
            </a:r>
            <a:endParaRPr lang="zh-CN" altLang="en-US" sz="11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72A6E25C-7DEE-4A99-926B-C68CA91B2344}"/>
              </a:ext>
            </a:extLst>
          </p:cNvPr>
          <p:cNvSpPr txBox="1"/>
          <p:nvPr/>
        </p:nvSpPr>
        <p:spPr>
          <a:xfrm>
            <a:off x="220690" y="2502703"/>
            <a:ext cx="9445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Vision Detection</a:t>
            </a:r>
            <a:endParaRPr lang="zh-CN" altLang="en-US" sz="11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96F8699-D7CC-4083-BA4B-0F0B385DBB97}"/>
              </a:ext>
            </a:extLst>
          </p:cNvPr>
          <p:cNvSpPr txBox="1"/>
          <p:nvPr/>
        </p:nvSpPr>
        <p:spPr>
          <a:xfrm>
            <a:off x="217955" y="3438227"/>
            <a:ext cx="9445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Radar Detection</a:t>
            </a:r>
            <a:endParaRPr lang="zh-CN" altLang="en-US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873D20-039F-4A14-8941-F8BD9F2A07F3}"/>
              </a:ext>
            </a:extLst>
          </p:cNvPr>
          <p:cNvSpPr/>
          <p:nvPr/>
        </p:nvSpPr>
        <p:spPr bwMode="auto">
          <a:xfrm>
            <a:off x="6127561" y="1258659"/>
            <a:ext cx="994799" cy="3115672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5378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4012779" y="1107492"/>
            <a:ext cx="4778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2400" dirty="0"/>
              <a:t>Motion status state machine</a:t>
            </a:r>
            <a:endParaRPr lang="zh-CN" altLang="en-US" sz="800" dirty="0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2F7EA759-2B1B-43C4-9CC8-EAB505254AFB}"/>
              </a:ext>
            </a:extLst>
          </p:cNvPr>
          <p:cNvSpPr/>
          <p:nvPr/>
        </p:nvSpPr>
        <p:spPr bwMode="auto">
          <a:xfrm>
            <a:off x="6692462" y="283258"/>
            <a:ext cx="477595" cy="209786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4C516C5-A829-47C9-B814-4D041482DFC6}"/>
              </a:ext>
            </a:extLst>
          </p:cNvPr>
          <p:cNvSpPr txBox="1"/>
          <p:nvPr/>
        </p:nvSpPr>
        <p:spPr>
          <a:xfrm>
            <a:off x="7224985" y="251517"/>
            <a:ext cx="849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22HZ</a:t>
            </a:r>
            <a:endParaRPr lang="zh-CN" altLang="en-US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B3A4B1-DC1D-426F-AE3A-C4F0FAB3D8B6}"/>
              </a:ext>
            </a:extLst>
          </p:cNvPr>
          <p:cNvSpPr/>
          <p:nvPr/>
        </p:nvSpPr>
        <p:spPr>
          <a:xfrm>
            <a:off x="495846" y="996636"/>
            <a:ext cx="3447637" cy="1870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Update track status: updated, coasted, etc.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Update track motion status: static, moving, stopped, </a:t>
            </a:r>
            <a:r>
              <a:rPr lang="en-US" altLang="zh-CN" dirty="0" err="1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etc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Update track classification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Update system active track IDs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B46EF6-A042-4BFE-B136-C88253D95389}"/>
              </a:ext>
            </a:extLst>
          </p:cNvPr>
          <p:cNvSpPr txBox="1"/>
          <p:nvPr/>
        </p:nvSpPr>
        <p:spPr>
          <a:xfrm>
            <a:off x="4218839" y="1728107"/>
            <a:ext cx="244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Static (Default state)</a:t>
            </a:r>
            <a:endParaRPr lang="zh-CN" altLang="en-US" dirty="0"/>
          </a:p>
        </p:txBody>
      </p:sp>
      <p:sp>
        <p:nvSpPr>
          <p:cNvPr id="7" name="文本框 2">
            <a:extLst/>
          </p:cNvPr>
          <p:cNvSpPr txBox="1"/>
          <p:nvPr/>
        </p:nvSpPr>
        <p:spPr>
          <a:xfrm>
            <a:off x="4233797" y="3578023"/>
            <a:ext cx="10801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Stopped</a:t>
            </a:r>
            <a:endParaRPr lang="zh-CN" altLang="en-US" dirty="0"/>
          </a:p>
        </p:txBody>
      </p:sp>
      <p:sp>
        <p:nvSpPr>
          <p:cNvPr id="8" name="文本框 2">
            <a:extLst/>
          </p:cNvPr>
          <p:cNvSpPr txBox="1"/>
          <p:nvPr/>
        </p:nvSpPr>
        <p:spPr>
          <a:xfrm>
            <a:off x="7545631" y="1912773"/>
            <a:ext cx="10126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Moving</a:t>
            </a:r>
            <a:endParaRPr lang="zh-CN" altLang="en-US" dirty="0"/>
          </a:p>
        </p:txBody>
      </p:sp>
      <p:sp>
        <p:nvSpPr>
          <p:cNvPr id="9" name="文本框 2">
            <a:extLst/>
          </p:cNvPr>
          <p:cNvSpPr txBox="1"/>
          <p:nvPr/>
        </p:nvSpPr>
        <p:spPr>
          <a:xfrm>
            <a:off x="7490274" y="2627582"/>
            <a:ext cx="133926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Incoming</a:t>
            </a:r>
            <a:endParaRPr lang="zh-CN" altLang="en-US" dirty="0"/>
          </a:p>
        </p:txBody>
      </p:sp>
      <p:sp>
        <p:nvSpPr>
          <p:cNvPr id="10" name="文本框 2">
            <a:extLst/>
          </p:cNvPr>
          <p:cNvSpPr txBox="1"/>
          <p:nvPr/>
        </p:nvSpPr>
        <p:spPr>
          <a:xfrm>
            <a:off x="7519087" y="3947355"/>
            <a:ext cx="134028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Receding</a:t>
            </a:r>
            <a:endParaRPr lang="zh-CN" alt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7105483" y="1715107"/>
            <a:ext cx="2016224" cy="27363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6" name="Straight Arrow Connector 5"/>
          <p:cNvCxnSpPr>
            <a:stCxn id="3" idx="2"/>
            <a:endCxn id="9" idx="1"/>
          </p:cNvCxnSpPr>
          <p:nvPr/>
        </p:nvCxnSpPr>
        <p:spPr bwMode="auto">
          <a:xfrm>
            <a:off x="5442975" y="2097439"/>
            <a:ext cx="2047299" cy="7148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/>
          <p:cNvCxnSpPr>
            <a:stCxn id="3" idx="2"/>
            <a:endCxn id="10" idx="1"/>
          </p:cNvCxnSpPr>
          <p:nvPr/>
        </p:nvCxnSpPr>
        <p:spPr bwMode="auto">
          <a:xfrm>
            <a:off x="5442975" y="2097439"/>
            <a:ext cx="2076112" cy="20345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Arrow Connector 18"/>
          <p:cNvCxnSpPr/>
          <p:nvPr/>
        </p:nvCxnSpPr>
        <p:spPr bwMode="auto">
          <a:xfrm flipV="1">
            <a:off x="5313917" y="2996914"/>
            <a:ext cx="2176357" cy="5811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/>
          <p:cNvCxnSpPr/>
          <p:nvPr/>
        </p:nvCxnSpPr>
        <p:spPr bwMode="auto">
          <a:xfrm flipH="1">
            <a:off x="4941282" y="2875529"/>
            <a:ext cx="2548993" cy="6861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Arrow Connector 25"/>
          <p:cNvCxnSpPr>
            <a:stCxn id="10" idx="1"/>
          </p:cNvCxnSpPr>
          <p:nvPr/>
        </p:nvCxnSpPr>
        <p:spPr bwMode="auto">
          <a:xfrm flipH="1" flipV="1">
            <a:off x="5304643" y="3856566"/>
            <a:ext cx="2214444" cy="2754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Arrow Connector 27"/>
          <p:cNvCxnSpPr/>
          <p:nvPr/>
        </p:nvCxnSpPr>
        <p:spPr bwMode="auto">
          <a:xfrm>
            <a:off x="5157630" y="3974168"/>
            <a:ext cx="2361457" cy="2848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Arrow: Circular 131"/>
          <p:cNvSpPr/>
          <p:nvPr/>
        </p:nvSpPr>
        <p:spPr bwMode="auto">
          <a:xfrm rot="10800000">
            <a:off x="4757053" y="1753441"/>
            <a:ext cx="383773" cy="714809"/>
          </a:xfrm>
          <a:prstGeom prst="circular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41" name="Arrow: Circular 40"/>
          <p:cNvSpPr/>
          <p:nvPr/>
        </p:nvSpPr>
        <p:spPr bwMode="auto">
          <a:xfrm>
            <a:off x="4351407" y="3200691"/>
            <a:ext cx="316551" cy="703129"/>
          </a:xfrm>
          <a:prstGeom prst="circular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42" name="文本框 154">
            <a:extLst/>
          </p:cNvPr>
          <p:cNvSpPr txBox="1"/>
          <p:nvPr/>
        </p:nvSpPr>
        <p:spPr>
          <a:xfrm>
            <a:off x="218375" y="536098"/>
            <a:ext cx="23232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2400" dirty="0"/>
              <a:t>Book Keeping</a:t>
            </a:r>
            <a:endParaRPr lang="zh-CN" alt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/>
              <p:cNvSpPr txBox="1"/>
              <p:nvPr/>
            </p:nvSpPr>
            <p:spPr>
              <a:xfrm rot="2600587">
                <a:off x="5478687" y="2541963"/>
                <a:ext cx="828175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600587">
                <a:off x="5478687" y="2541963"/>
                <a:ext cx="828175" cy="298928"/>
              </a:xfrm>
              <a:prstGeom prst="rect">
                <a:avLst/>
              </a:prstGeom>
              <a:blipFill>
                <a:blip r:embed="rId2"/>
                <a:stretch>
                  <a:fillRect b="-3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185903" y="2941581"/>
                <a:ext cx="6222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903" y="2941581"/>
                <a:ext cx="622286" cy="276999"/>
              </a:xfrm>
              <a:prstGeom prst="rect">
                <a:avLst/>
              </a:prstGeom>
              <a:blipFill>
                <a:blip r:embed="rId3"/>
                <a:stretch>
                  <a:fillRect l="-3922" r="-6863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4144703" y="2160012"/>
                <a:ext cx="6222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703" y="2160012"/>
                <a:ext cx="622286" cy="276999"/>
              </a:xfrm>
              <a:prstGeom prst="rect">
                <a:avLst/>
              </a:prstGeom>
              <a:blipFill>
                <a:blip r:embed="rId4"/>
                <a:stretch>
                  <a:fillRect l="-3922" r="-6863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 rot="376647">
                <a:off x="5770972" y="4121828"/>
                <a:ext cx="828175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76647">
                <a:off x="5770972" y="4121828"/>
                <a:ext cx="828175" cy="298928"/>
              </a:xfrm>
              <a:prstGeom prst="rect">
                <a:avLst/>
              </a:prstGeom>
              <a:blipFill>
                <a:blip r:embed="rId5"/>
                <a:stretch>
                  <a:fillRect l="-2128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 rot="359784">
                <a:off x="5823143" y="3666965"/>
                <a:ext cx="6222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59784">
                <a:off x="5823143" y="3666965"/>
                <a:ext cx="622286" cy="276999"/>
              </a:xfrm>
              <a:prstGeom prst="rect">
                <a:avLst/>
              </a:prstGeom>
              <a:blipFill>
                <a:blip r:embed="rId6"/>
                <a:stretch>
                  <a:fillRect l="-3738" r="-5607" b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 rot="20702730">
                <a:off x="5478047" y="3062192"/>
                <a:ext cx="6222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702730">
                <a:off x="5478047" y="3062192"/>
                <a:ext cx="622286" cy="276999"/>
              </a:xfrm>
              <a:prstGeom prst="rect">
                <a:avLst/>
              </a:prstGeom>
              <a:blipFill>
                <a:blip r:embed="rId7"/>
                <a:stretch>
                  <a:fillRect r="-7207"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 rot="1111620">
                <a:off x="6090755" y="2184573"/>
                <a:ext cx="1001300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11620">
                <a:off x="6090755" y="2184573"/>
                <a:ext cx="1001300" cy="298928"/>
              </a:xfrm>
              <a:prstGeom prst="rect">
                <a:avLst/>
              </a:prstGeom>
              <a:blipFill>
                <a:blip r:embed="rId8"/>
                <a:stretch>
                  <a:fillRect l="-1163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 rot="20824376">
                <a:off x="5727347" y="3316196"/>
                <a:ext cx="1001300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824376">
                <a:off x="5727347" y="3316196"/>
                <a:ext cx="1001300" cy="298928"/>
              </a:xfrm>
              <a:prstGeom prst="rect">
                <a:avLst/>
              </a:prstGeom>
              <a:blipFill>
                <a:blip r:embed="rId9"/>
                <a:stretch>
                  <a:fillRect l="-581" r="-1744" b="-7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矩形 1">
            <a:extLst/>
          </p:cNvPr>
          <p:cNvSpPr/>
          <p:nvPr/>
        </p:nvSpPr>
        <p:spPr>
          <a:xfrm>
            <a:off x="555832" y="3259037"/>
            <a:ext cx="3447637" cy="671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Fusion object structure</a:t>
            </a:r>
          </a:p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Cals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文本框 154">
            <a:extLst/>
          </p:cNvPr>
          <p:cNvSpPr txBox="1"/>
          <p:nvPr/>
        </p:nvSpPr>
        <p:spPr>
          <a:xfrm>
            <a:off x="278361" y="2798499"/>
            <a:ext cx="23232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2400" dirty="0"/>
              <a:t>Input:</a:t>
            </a:r>
            <a:endParaRPr lang="zh-CN" altLang="en-US" sz="800" dirty="0"/>
          </a:p>
        </p:txBody>
      </p:sp>
      <p:sp>
        <p:nvSpPr>
          <p:cNvPr id="57" name="矩形 1">
            <a:extLst/>
          </p:cNvPr>
          <p:cNvSpPr/>
          <p:nvPr/>
        </p:nvSpPr>
        <p:spPr>
          <a:xfrm>
            <a:off x="567198" y="4483493"/>
            <a:ext cx="3447637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Fusion object structure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文本框 154">
            <a:extLst/>
          </p:cNvPr>
          <p:cNvSpPr txBox="1"/>
          <p:nvPr/>
        </p:nvSpPr>
        <p:spPr>
          <a:xfrm>
            <a:off x="345026" y="3897422"/>
            <a:ext cx="23232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2400" dirty="0"/>
              <a:t>Output:</a:t>
            </a:r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36677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348993" y="623066"/>
            <a:ext cx="1846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2400" dirty="0"/>
              <a:t>Track status</a:t>
            </a:r>
            <a:endParaRPr lang="zh-CN" altLang="en-US" sz="800" dirty="0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2F7EA759-2B1B-43C4-9CC8-EAB505254AFB}"/>
              </a:ext>
            </a:extLst>
          </p:cNvPr>
          <p:cNvSpPr/>
          <p:nvPr/>
        </p:nvSpPr>
        <p:spPr bwMode="auto">
          <a:xfrm>
            <a:off x="6692462" y="283258"/>
            <a:ext cx="477595" cy="209786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4C516C5-A829-47C9-B814-4D041482DFC6}"/>
              </a:ext>
            </a:extLst>
          </p:cNvPr>
          <p:cNvSpPr txBox="1"/>
          <p:nvPr/>
        </p:nvSpPr>
        <p:spPr>
          <a:xfrm>
            <a:off x="7224985" y="251517"/>
            <a:ext cx="849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22HZ</a:t>
            </a:r>
            <a:endParaRPr lang="zh-CN" altLang="en-US" sz="1100" dirty="0"/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3325210" y="1280308"/>
            <a:ext cx="2730796" cy="63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/>
          <p:cNvCxnSpPr/>
          <p:nvPr/>
        </p:nvCxnSpPr>
        <p:spPr bwMode="auto">
          <a:xfrm flipH="1">
            <a:off x="3343236" y="1543931"/>
            <a:ext cx="271277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Arrow: Circular 131"/>
          <p:cNvSpPr/>
          <p:nvPr/>
        </p:nvSpPr>
        <p:spPr bwMode="auto">
          <a:xfrm rot="10800000">
            <a:off x="1657161" y="2686230"/>
            <a:ext cx="383773" cy="714809"/>
          </a:xfrm>
          <a:prstGeom prst="circular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41" name="Arrow: Circular 40"/>
          <p:cNvSpPr/>
          <p:nvPr/>
        </p:nvSpPr>
        <p:spPr bwMode="auto">
          <a:xfrm>
            <a:off x="1690772" y="4242157"/>
            <a:ext cx="316551" cy="703129"/>
          </a:xfrm>
          <a:prstGeom prst="circular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42" name="文本框 154">
            <a:extLst/>
          </p:cNvPr>
          <p:cNvSpPr txBox="1"/>
          <p:nvPr/>
        </p:nvSpPr>
        <p:spPr>
          <a:xfrm>
            <a:off x="1655633" y="0"/>
            <a:ext cx="3825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2400" dirty="0"/>
              <a:t>Book Keeping, continue</a:t>
            </a:r>
            <a:endParaRPr lang="zh-CN" altLang="en-US" sz="800" dirty="0"/>
          </a:p>
        </p:txBody>
      </p:sp>
      <p:sp>
        <p:nvSpPr>
          <p:cNvPr id="33" name="文本框 2">
            <a:extLst/>
          </p:cNvPr>
          <p:cNvSpPr txBox="1"/>
          <p:nvPr/>
        </p:nvSpPr>
        <p:spPr>
          <a:xfrm>
            <a:off x="354861" y="1231720"/>
            <a:ext cx="298837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NEW </a:t>
            </a:r>
          </a:p>
        </p:txBody>
      </p:sp>
      <p:sp>
        <p:nvSpPr>
          <p:cNvPr id="34" name="文本框 2">
            <a:extLst/>
          </p:cNvPr>
          <p:cNvSpPr txBox="1"/>
          <p:nvPr/>
        </p:nvSpPr>
        <p:spPr>
          <a:xfrm>
            <a:off x="6056006" y="1242502"/>
            <a:ext cx="29986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INVALID</a:t>
            </a:r>
            <a:endParaRPr lang="zh-CN" altLang="en-US" dirty="0"/>
          </a:p>
        </p:txBody>
      </p:sp>
      <p:sp>
        <p:nvSpPr>
          <p:cNvPr id="12" name="Rectangle 11"/>
          <p:cNvSpPr/>
          <p:nvPr/>
        </p:nvSpPr>
        <p:spPr>
          <a:xfrm>
            <a:off x="3289282" y="1533445"/>
            <a:ext cx="29290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Initialized from radar/vision</a:t>
            </a:r>
            <a:endParaRPr lang="zh-CN" altLang="en-US" dirty="0"/>
          </a:p>
        </p:txBody>
      </p:sp>
      <p:sp>
        <p:nvSpPr>
          <p:cNvPr id="43" name="Rectangle 42"/>
          <p:cNvSpPr/>
          <p:nvPr/>
        </p:nvSpPr>
        <p:spPr>
          <a:xfrm>
            <a:off x="3437705" y="887990"/>
            <a:ext cx="2505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No radar/vision update</a:t>
            </a:r>
            <a:endParaRPr lang="zh-CN" altLang="en-US" dirty="0"/>
          </a:p>
        </p:txBody>
      </p:sp>
      <p:sp>
        <p:nvSpPr>
          <p:cNvPr id="44" name="文本框 2">
            <a:extLst/>
          </p:cNvPr>
          <p:cNvSpPr txBox="1"/>
          <p:nvPr/>
        </p:nvSpPr>
        <p:spPr>
          <a:xfrm>
            <a:off x="1655633" y="2682996"/>
            <a:ext cx="298805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UPDATED</a:t>
            </a:r>
            <a:endParaRPr lang="zh-CN" altLang="en-US" dirty="0"/>
          </a:p>
        </p:txBody>
      </p:sp>
      <p:sp>
        <p:nvSpPr>
          <p:cNvPr id="45" name="文本框 2">
            <a:extLst/>
          </p:cNvPr>
          <p:cNvSpPr txBox="1"/>
          <p:nvPr/>
        </p:nvSpPr>
        <p:spPr>
          <a:xfrm>
            <a:off x="1725833" y="4603502"/>
            <a:ext cx="298243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COASTED</a:t>
            </a:r>
            <a:endParaRPr lang="zh-CN" altLang="en-US" dirty="0"/>
          </a:p>
        </p:txBody>
      </p:sp>
      <p:sp>
        <p:nvSpPr>
          <p:cNvPr id="48" name="Rectangle 47"/>
          <p:cNvSpPr/>
          <p:nvPr/>
        </p:nvSpPr>
        <p:spPr>
          <a:xfrm>
            <a:off x="159584" y="3012893"/>
            <a:ext cx="15311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Radar/vision </a:t>
            </a:r>
          </a:p>
          <a:p>
            <a:pPr algn="ctr"/>
            <a:r>
              <a:rPr lang="en-US" altLang="zh-CN" dirty="0"/>
              <a:t>update</a:t>
            </a:r>
            <a:endParaRPr lang="zh-CN" altLang="en-US" dirty="0"/>
          </a:p>
        </p:txBody>
      </p:sp>
      <p:sp>
        <p:nvSpPr>
          <p:cNvPr id="53" name="Rectangle 52"/>
          <p:cNvSpPr/>
          <p:nvPr/>
        </p:nvSpPr>
        <p:spPr>
          <a:xfrm>
            <a:off x="124533" y="3968501"/>
            <a:ext cx="17807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No radar/vision </a:t>
            </a:r>
          </a:p>
          <a:p>
            <a:pPr algn="ctr"/>
            <a:r>
              <a:rPr lang="en-US" altLang="zh-CN" dirty="0"/>
              <a:t>update for short time</a:t>
            </a:r>
            <a:endParaRPr lang="zh-CN" altLang="en-US" dirty="0"/>
          </a:p>
        </p:txBody>
      </p:sp>
      <p:cxnSp>
        <p:nvCxnSpPr>
          <p:cNvPr id="59" name="Straight Arrow Connector 58"/>
          <p:cNvCxnSpPr>
            <a:stCxn id="33" idx="2"/>
          </p:cNvCxnSpPr>
          <p:nvPr/>
        </p:nvCxnSpPr>
        <p:spPr bwMode="auto">
          <a:xfrm flipH="1">
            <a:off x="1849047" y="1601052"/>
            <a:ext cx="2" cy="10819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Rectangle 59"/>
          <p:cNvSpPr/>
          <p:nvPr/>
        </p:nvSpPr>
        <p:spPr>
          <a:xfrm>
            <a:off x="1849047" y="1782146"/>
            <a:ext cx="15311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Radar/vision </a:t>
            </a:r>
          </a:p>
          <a:p>
            <a:pPr algn="ctr"/>
            <a:r>
              <a:rPr lang="en-US" altLang="zh-CN" dirty="0"/>
              <a:t>update</a:t>
            </a:r>
            <a:endParaRPr lang="zh-CN" altLang="en-US" dirty="0"/>
          </a:p>
        </p:txBody>
      </p:sp>
      <p:cxnSp>
        <p:nvCxnSpPr>
          <p:cNvPr id="61" name="Straight Arrow Connector 60"/>
          <p:cNvCxnSpPr>
            <a:endCxn id="45" idx="0"/>
          </p:cNvCxnSpPr>
          <p:nvPr/>
        </p:nvCxnSpPr>
        <p:spPr bwMode="auto">
          <a:xfrm flipH="1">
            <a:off x="3217051" y="3038216"/>
            <a:ext cx="8402" cy="15652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Rectangle 61"/>
          <p:cNvSpPr/>
          <p:nvPr/>
        </p:nvSpPr>
        <p:spPr>
          <a:xfrm>
            <a:off x="3149659" y="3359194"/>
            <a:ext cx="17625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No radar/vision </a:t>
            </a:r>
          </a:p>
          <a:p>
            <a:pPr algn="ctr"/>
            <a:r>
              <a:rPr lang="en-US" altLang="zh-CN" dirty="0"/>
              <a:t>update</a:t>
            </a:r>
            <a:endParaRPr lang="zh-CN" altLang="en-US" dirty="0"/>
          </a:p>
        </p:txBody>
      </p:sp>
      <p:cxnSp>
        <p:nvCxnSpPr>
          <p:cNvPr id="24" name="Straight Connector 23"/>
          <p:cNvCxnSpPr/>
          <p:nvPr/>
        </p:nvCxnSpPr>
        <p:spPr bwMode="auto">
          <a:xfrm flipV="1">
            <a:off x="4674707" y="2853535"/>
            <a:ext cx="2880644" cy="549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/>
          <p:cNvCxnSpPr>
            <a:endCxn id="34" idx="2"/>
          </p:cNvCxnSpPr>
          <p:nvPr/>
        </p:nvCxnSpPr>
        <p:spPr bwMode="auto">
          <a:xfrm flipV="1">
            <a:off x="7555351" y="1611834"/>
            <a:ext cx="1" cy="12417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Straight Connector 62"/>
          <p:cNvCxnSpPr/>
          <p:nvPr/>
        </p:nvCxnSpPr>
        <p:spPr bwMode="auto">
          <a:xfrm flipV="1">
            <a:off x="4710263" y="4806379"/>
            <a:ext cx="2845088" cy="55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Straight Arrow Connector 63"/>
          <p:cNvCxnSpPr/>
          <p:nvPr/>
        </p:nvCxnSpPr>
        <p:spPr bwMode="auto">
          <a:xfrm flipV="1">
            <a:off x="7555351" y="2853537"/>
            <a:ext cx="1" cy="19528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Rectangle 68"/>
          <p:cNvSpPr/>
          <p:nvPr/>
        </p:nvSpPr>
        <p:spPr>
          <a:xfrm>
            <a:off x="5039735" y="4160048"/>
            <a:ext cx="21861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No radar/vision </a:t>
            </a:r>
          </a:p>
          <a:p>
            <a:pPr algn="ctr"/>
            <a:r>
              <a:rPr lang="en-US" altLang="zh-CN" dirty="0"/>
              <a:t>update for too long</a:t>
            </a:r>
            <a:endParaRPr lang="zh-CN" altLang="en-US" dirty="0"/>
          </a:p>
        </p:txBody>
      </p:sp>
      <p:sp>
        <p:nvSpPr>
          <p:cNvPr id="70" name="Rectangle 69"/>
          <p:cNvSpPr/>
          <p:nvPr/>
        </p:nvSpPr>
        <p:spPr>
          <a:xfrm>
            <a:off x="4955963" y="2258165"/>
            <a:ext cx="21861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If suspicious in some sense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6290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1403647" y="557907"/>
            <a:ext cx="5705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Software Architecture of</a:t>
            </a:r>
            <a:r>
              <a:rPr lang="zh-CN" altLang="en-US" sz="2400" dirty="0"/>
              <a:t> </a:t>
            </a:r>
            <a:r>
              <a:rPr lang="en-US" altLang="zh-CN" sz="2400" dirty="0"/>
              <a:t>sensor</a:t>
            </a:r>
            <a:r>
              <a:rPr lang="zh-CN" altLang="en-US" sz="2400" dirty="0"/>
              <a:t> </a:t>
            </a:r>
            <a:r>
              <a:rPr lang="en-US" altLang="zh-CN" sz="2400" dirty="0"/>
              <a:t>fusion</a:t>
            </a:r>
            <a:endParaRPr lang="zh-CN" altLang="en-US" sz="24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6DE47BE-DDA8-4C8E-9B97-EE3621FD48E7}"/>
              </a:ext>
            </a:extLst>
          </p:cNvPr>
          <p:cNvSpPr/>
          <p:nvPr/>
        </p:nvSpPr>
        <p:spPr bwMode="auto">
          <a:xfrm>
            <a:off x="928064" y="2214091"/>
            <a:ext cx="676096" cy="2019218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Senor</a:t>
            </a:r>
          </a:p>
          <a:p>
            <a:pPr algn="ctr" eaLnBrk="1" hangingPunct="1"/>
            <a:r>
              <a:rPr lang="en-US" altLang="zh-CN" sz="1100" dirty="0"/>
              <a:t>data</a:t>
            </a:r>
          </a:p>
          <a:p>
            <a:pPr algn="ctr" eaLnBrk="1" hangingPunct="1"/>
            <a:r>
              <a:rPr lang="en-US" altLang="zh-CN" sz="1100" dirty="0"/>
              <a:t>adaptor</a:t>
            </a:r>
            <a:endParaRPr lang="zh-CN" altLang="en-US" sz="700" dirty="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F8AE557-0264-485B-8227-40C9D2F147B3}"/>
              </a:ext>
            </a:extLst>
          </p:cNvPr>
          <p:cNvSpPr/>
          <p:nvPr/>
        </p:nvSpPr>
        <p:spPr bwMode="auto">
          <a:xfrm>
            <a:off x="2008184" y="1351748"/>
            <a:ext cx="1152128" cy="2883314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Measurement</a:t>
            </a:r>
          </a:p>
          <a:p>
            <a:pPr algn="ctr" eaLnBrk="1" hangingPunct="1"/>
            <a:r>
              <a:rPr lang="en-US" altLang="zh-CN" sz="1100" dirty="0"/>
              <a:t>time stamp</a:t>
            </a:r>
          </a:p>
          <a:p>
            <a:pPr algn="ctr" eaLnBrk="1" hangingPunct="1"/>
            <a:r>
              <a:rPr lang="en-US" altLang="zh-CN" sz="1100" dirty="0"/>
              <a:t>management</a:t>
            </a:r>
            <a:endParaRPr lang="zh-CN" altLang="en-US" sz="700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0EBECE9-7BA4-4CBB-B7C7-CB4BC529F496}"/>
              </a:ext>
            </a:extLst>
          </p:cNvPr>
          <p:cNvSpPr/>
          <p:nvPr/>
        </p:nvSpPr>
        <p:spPr bwMode="auto">
          <a:xfrm>
            <a:off x="3531363" y="3078187"/>
            <a:ext cx="997101" cy="115512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Association</a:t>
            </a:r>
            <a:endParaRPr lang="zh-CN" altLang="en-US" sz="70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E7DFC8B-F62C-49A9-B766-DF638EE2DE8B}"/>
              </a:ext>
            </a:extLst>
          </p:cNvPr>
          <p:cNvSpPr/>
          <p:nvPr/>
        </p:nvSpPr>
        <p:spPr bwMode="auto">
          <a:xfrm>
            <a:off x="4901107" y="3078187"/>
            <a:ext cx="991228" cy="115512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State update</a:t>
            </a:r>
            <a:endParaRPr lang="zh-CN" altLang="en-US" sz="70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B8665D8-E1B4-4311-87C9-EB6E7B7FECDA}"/>
              </a:ext>
            </a:extLst>
          </p:cNvPr>
          <p:cNvSpPr/>
          <p:nvPr/>
        </p:nvSpPr>
        <p:spPr bwMode="auto">
          <a:xfrm>
            <a:off x="6266704" y="1349995"/>
            <a:ext cx="740417" cy="2883314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Book</a:t>
            </a:r>
          </a:p>
          <a:p>
            <a:pPr algn="ctr" eaLnBrk="1" hangingPunct="1"/>
            <a:r>
              <a:rPr lang="en-US" altLang="zh-CN" sz="1100" dirty="0"/>
              <a:t>Keeping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AA48DE7-66AC-4A9D-A404-9AA6B3332871}"/>
              </a:ext>
            </a:extLst>
          </p:cNvPr>
          <p:cNvSpPr/>
          <p:nvPr/>
        </p:nvSpPr>
        <p:spPr bwMode="auto">
          <a:xfrm>
            <a:off x="3531363" y="1349995"/>
            <a:ext cx="2360972" cy="118813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200" dirty="0"/>
              <a:t>Track management</a:t>
            </a:r>
          </a:p>
          <a:p>
            <a:pPr algn="ctr" eaLnBrk="1" hangingPunct="1"/>
            <a:r>
              <a:rPr lang="en-US" altLang="zh-CN" sz="1200" dirty="0"/>
              <a:t>(Track </a:t>
            </a:r>
            <a:r>
              <a:rPr lang="en-US" altLang="zh-CN" sz="1200" dirty="0" err="1"/>
              <a:t>init.</a:t>
            </a:r>
            <a:r>
              <a:rPr lang="en-US" altLang="zh-CN" sz="1200" dirty="0"/>
              <a:t> included)</a:t>
            </a:r>
            <a:endParaRPr lang="zh-CN" altLang="en-US" sz="800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0FBE1FD-A4F7-4C7F-B800-BE4F5FE2FED4}"/>
              </a:ext>
            </a:extLst>
          </p:cNvPr>
          <p:cNvSpPr/>
          <p:nvPr/>
        </p:nvSpPr>
        <p:spPr bwMode="auto">
          <a:xfrm>
            <a:off x="7398736" y="3006179"/>
            <a:ext cx="936104" cy="1227130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Barrier</a:t>
            </a:r>
          </a:p>
          <a:p>
            <a:pPr algn="ctr" eaLnBrk="1" hangingPunct="1"/>
            <a:r>
              <a:rPr lang="en-US" altLang="zh-CN" sz="1100" dirty="0"/>
              <a:t>estimation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9D834F6-160E-435E-96BA-08B3F5D077AB}"/>
              </a:ext>
            </a:extLst>
          </p:cNvPr>
          <p:cNvSpPr/>
          <p:nvPr/>
        </p:nvSpPr>
        <p:spPr bwMode="auto">
          <a:xfrm>
            <a:off x="7398736" y="1349995"/>
            <a:ext cx="936104" cy="1227130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Confidence assessment</a:t>
            </a: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BA71D232-E97A-44F8-8EFA-8BEDA9AB0C55}"/>
              </a:ext>
            </a:extLst>
          </p:cNvPr>
          <p:cNvCxnSpPr>
            <a:cxnSpLocks/>
          </p:cNvCxnSpPr>
          <p:nvPr/>
        </p:nvCxnSpPr>
        <p:spPr bwMode="auto">
          <a:xfrm>
            <a:off x="395536" y="2718147"/>
            <a:ext cx="532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1B4DEAAE-966A-4E43-AC8E-48197F924AB4}"/>
              </a:ext>
            </a:extLst>
          </p:cNvPr>
          <p:cNvCxnSpPr>
            <a:cxnSpLocks/>
          </p:cNvCxnSpPr>
          <p:nvPr/>
        </p:nvCxnSpPr>
        <p:spPr bwMode="auto">
          <a:xfrm>
            <a:off x="395536" y="3654251"/>
            <a:ext cx="532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5F179419-85C2-4966-9EBF-68BC62BDE9DF}"/>
              </a:ext>
            </a:extLst>
          </p:cNvPr>
          <p:cNvCxnSpPr>
            <a:cxnSpLocks/>
          </p:cNvCxnSpPr>
          <p:nvPr/>
        </p:nvCxnSpPr>
        <p:spPr bwMode="auto">
          <a:xfrm>
            <a:off x="467544" y="1805491"/>
            <a:ext cx="1530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C5D43F42-5E1D-412F-A1D0-34238C102563}"/>
              </a:ext>
            </a:extLst>
          </p:cNvPr>
          <p:cNvCxnSpPr/>
          <p:nvPr/>
        </p:nvCxnSpPr>
        <p:spPr bwMode="auto">
          <a:xfrm>
            <a:off x="1614656" y="3150195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7E57DA10-9C1E-4A37-B09A-C47E56C25149}"/>
              </a:ext>
            </a:extLst>
          </p:cNvPr>
          <p:cNvCxnSpPr>
            <a:cxnSpLocks/>
          </p:cNvCxnSpPr>
          <p:nvPr/>
        </p:nvCxnSpPr>
        <p:spPr bwMode="auto">
          <a:xfrm>
            <a:off x="3160312" y="1926059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D44F9E1E-8DB2-4B9D-8DBB-7DE92E08A879}"/>
              </a:ext>
            </a:extLst>
          </p:cNvPr>
          <p:cNvCxnSpPr>
            <a:cxnSpLocks/>
          </p:cNvCxnSpPr>
          <p:nvPr/>
        </p:nvCxnSpPr>
        <p:spPr bwMode="auto">
          <a:xfrm>
            <a:off x="3160312" y="3642653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40B6FD4F-2C77-4671-BA94-498B80275E7D}"/>
              </a:ext>
            </a:extLst>
          </p:cNvPr>
          <p:cNvCxnSpPr>
            <a:cxnSpLocks/>
          </p:cNvCxnSpPr>
          <p:nvPr/>
        </p:nvCxnSpPr>
        <p:spPr bwMode="auto">
          <a:xfrm>
            <a:off x="4530056" y="3654251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F4A517FF-8F7D-40CB-A9B8-8058FACDDC8C}"/>
              </a:ext>
            </a:extLst>
          </p:cNvPr>
          <p:cNvCxnSpPr>
            <a:cxnSpLocks/>
          </p:cNvCxnSpPr>
          <p:nvPr/>
        </p:nvCxnSpPr>
        <p:spPr bwMode="auto">
          <a:xfrm>
            <a:off x="5892335" y="1937908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36076E4C-4FCD-42DF-97E8-3356ACBC1278}"/>
              </a:ext>
            </a:extLst>
          </p:cNvPr>
          <p:cNvCxnSpPr>
            <a:cxnSpLocks/>
          </p:cNvCxnSpPr>
          <p:nvPr/>
        </p:nvCxnSpPr>
        <p:spPr bwMode="auto">
          <a:xfrm>
            <a:off x="7016667" y="1942993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0BE59866-F58B-4FD3-9FCC-EB5A43D21E1E}"/>
              </a:ext>
            </a:extLst>
          </p:cNvPr>
          <p:cNvCxnSpPr>
            <a:cxnSpLocks/>
          </p:cNvCxnSpPr>
          <p:nvPr/>
        </p:nvCxnSpPr>
        <p:spPr bwMode="auto">
          <a:xfrm>
            <a:off x="7021691" y="3677701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33F4EE9A-E4DB-4649-A798-E4FD15F3EB14}"/>
              </a:ext>
            </a:extLst>
          </p:cNvPr>
          <p:cNvCxnSpPr>
            <a:cxnSpLocks/>
            <a:stCxn id="78" idx="0"/>
          </p:cNvCxnSpPr>
          <p:nvPr/>
        </p:nvCxnSpPr>
        <p:spPr bwMode="auto">
          <a:xfrm flipV="1">
            <a:off x="5396721" y="2538127"/>
            <a:ext cx="0" cy="540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5E891B06-BF06-4460-A043-AF99B8124ABB}"/>
              </a:ext>
            </a:extLst>
          </p:cNvPr>
          <p:cNvCxnSpPr>
            <a:cxnSpLocks/>
            <a:endCxn id="76" idx="0"/>
          </p:cNvCxnSpPr>
          <p:nvPr/>
        </p:nvCxnSpPr>
        <p:spPr bwMode="auto">
          <a:xfrm>
            <a:off x="4029914" y="2538127"/>
            <a:ext cx="0" cy="540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BC64E6FB-3957-4C6D-9634-522DED344DA9}"/>
              </a:ext>
            </a:extLst>
          </p:cNvPr>
          <p:cNvCxnSpPr/>
          <p:nvPr/>
        </p:nvCxnSpPr>
        <p:spPr bwMode="auto">
          <a:xfrm>
            <a:off x="8334840" y="1963560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2FD92314-C8BD-41DB-A88D-F350123CF99C}"/>
              </a:ext>
            </a:extLst>
          </p:cNvPr>
          <p:cNvCxnSpPr/>
          <p:nvPr/>
        </p:nvCxnSpPr>
        <p:spPr bwMode="auto">
          <a:xfrm>
            <a:off x="8339864" y="3677701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68B6CBB-1438-4557-B881-611449D09EBC}"/>
              </a:ext>
            </a:extLst>
          </p:cNvPr>
          <p:cNvSpPr txBox="1"/>
          <p:nvPr/>
        </p:nvSpPr>
        <p:spPr>
          <a:xfrm>
            <a:off x="315101" y="1543881"/>
            <a:ext cx="944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Ego Motion</a:t>
            </a:r>
            <a:endParaRPr lang="zh-CN" altLang="en-US" sz="11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72A6E25C-7DEE-4A99-926B-C68CA91B2344}"/>
              </a:ext>
            </a:extLst>
          </p:cNvPr>
          <p:cNvSpPr txBox="1"/>
          <p:nvPr/>
        </p:nvSpPr>
        <p:spPr>
          <a:xfrm>
            <a:off x="220690" y="2502703"/>
            <a:ext cx="9445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Vision Detection</a:t>
            </a:r>
            <a:endParaRPr lang="zh-CN" altLang="en-US" sz="11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96F8699-D7CC-4083-BA4B-0F0B385DBB97}"/>
              </a:ext>
            </a:extLst>
          </p:cNvPr>
          <p:cNvSpPr txBox="1"/>
          <p:nvPr/>
        </p:nvSpPr>
        <p:spPr>
          <a:xfrm>
            <a:off x="217955" y="3438227"/>
            <a:ext cx="9445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Radar Detection</a:t>
            </a:r>
            <a:endParaRPr lang="zh-CN" altLang="en-US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873D20-039F-4A14-8941-F8BD9F2A07F3}"/>
              </a:ext>
            </a:extLst>
          </p:cNvPr>
          <p:cNvSpPr/>
          <p:nvPr/>
        </p:nvSpPr>
        <p:spPr bwMode="auto">
          <a:xfrm>
            <a:off x="7281933" y="1250321"/>
            <a:ext cx="1178499" cy="1467826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2452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1403647" y="557907"/>
            <a:ext cx="6840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2400" dirty="0"/>
              <a:t>Confidence Estimation</a:t>
            </a:r>
            <a:endParaRPr lang="zh-CN" altLang="en-US" sz="8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B3A4B1-DC1D-426F-AE3A-C4F0FAB3D8B6}"/>
              </a:ext>
            </a:extLst>
          </p:cNvPr>
          <p:cNvSpPr/>
          <p:nvPr/>
        </p:nvSpPr>
        <p:spPr>
          <a:xfrm>
            <a:off x="395536" y="1034704"/>
            <a:ext cx="3600400" cy="3840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Update each track’s confidence based on: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Fusion type: radar-only, vision-only or radar-vision</a:t>
            </a:r>
            <a:endParaRPr lang="zh-CN" altLang="zh-CN" sz="1600" dirty="0"/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Radar/vision track quality </a:t>
            </a:r>
            <a:endParaRPr lang="zh-CN" altLang="zh-CN" sz="1600" dirty="0"/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Radar/vision matching quality </a:t>
            </a:r>
            <a:endParaRPr lang="zh-CN" altLang="zh-CN" sz="1600" dirty="0"/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Fusion track trajectory smoothness</a:t>
            </a:r>
            <a:endParaRPr lang="zh-CN" altLang="zh-CN" sz="1600" dirty="0"/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If suspicious in any sense</a:t>
            </a:r>
            <a:endParaRPr lang="zh-CN" altLang="zh-CN" sz="1600" dirty="0"/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Sensor healthiness</a:t>
            </a:r>
            <a:endParaRPr lang="zh-CN" altLang="zh-CN" sz="1600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For each track we may provide multiple confidence support different functionalities, e.g., ACC, AEB and LKA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1">
            <a:extLst/>
          </p:cNvPr>
          <p:cNvSpPr/>
          <p:nvPr/>
        </p:nvSpPr>
        <p:spPr>
          <a:xfrm>
            <a:off x="4824027" y="1034704"/>
            <a:ext cx="3600400" cy="21430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Input: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Fusion object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Vision track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Vision sensor healthiness signal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Radar track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Radar sensor healthiness signal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Fusion system structure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 err="1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Cals</a:t>
            </a:r>
            <a:endParaRPr lang="en-US" altLang="zh-CN" sz="1600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1">
            <a:extLst/>
          </p:cNvPr>
          <p:cNvSpPr/>
          <p:nvPr/>
        </p:nvSpPr>
        <p:spPr>
          <a:xfrm>
            <a:off x="4824027" y="3192859"/>
            <a:ext cx="3600400" cy="6349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Output:</a:t>
            </a:r>
          </a:p>
          <a:p>
            <a:pPr marL="648721" lvl="1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Fusion object structure</a:t>
            </a:r>
          </a:p>
        </p:txBody>
      </p:sp>
    </p:spTree>
    <p:extLst>
      <p:ext uri="{BB962C8B-B14F-4D97-AF65-F5344CB8AC3E}">
        <p14:creationId xmlns:p14="http://schemas.microsoft.com/office/powerpoint/2010/main" val="26297111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1403647" y="557907"/>
            <a:ext cx="5705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Software Architecture of</a:t>
            </a:r>
            <a:r>
              <a:rPr lang="zh-CN" altLang="en-US" sz="2400" dirty="0"/>
              <a:t> </a:t>
            </a:r>
            <a:r>
              <a:rPr lang="en-US" altLang="zh-CN" sz="2400" dirty="0"/>
              <a:t>sensor</a:t>
            </a:r>
            <a:r>
              <a:rPr lang="zh-CN" altLang="en-US" sz="2400" dirty="0"/>
              <a:t> </a:t>
            </a:r>
            <a:r>
              <a:rPr lang="en-US" altLang="zh-CN" sz="2400" dirty="0"/>
              <a:t>fusion</a:t>
            </a:r>
            <a:endParaRPr lang="zh-CN" altLang="en-US" sz="24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6DE47BE-DDA8-4C8E-9B97-EE3621FD48E7}"/>
              </a:ext>
            </a:extLst>
          </p:cNvPr>
          <p:cNvSpPr/>
          <p:nvPr/>
        </p:nvSpPr>
        <p:spPr bwMode="auto">
          <a:xfrm>
            <a:off x="928064" y="2214091"/>
            <a:ext cx="676096" cy="2019218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Senor</a:t>
            </a:r>
          </a:p>
          <a:p>
            <a:pPr algn="ctr" eaLnBrk="1" hangingPunct="1"/>
            <a:r>
              <a:rPr lang="en-US" altLang="zh-CN" sz="1100" dirty="0"/>
              <a:t>data</a:t>
            </a:r>
          </a:p>
          <a:p>
            <a:pPr algn="ctr" eaLnBrk="1" hangingPunct="1"/>
            <a:r>
              <a:rPr lang="en-US" altLang="zh-CN" sz="1100" dirty="0"/>
              <a:t>adaptor</a:t>
            </a:r>
            <a:endParaRPr lang="zh-CN" altLang="en-US" sz="700" dirty="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F8AE557-0264-485B-8227-40C9D2F147B3}"/>
              </a:ext>
            </a:extLst>
          </p:cNvPr>
          <p:cNvSpPr/>
          <p:nvPr/>
        </p:nvSpPr>
        <p:spPr bwMode="auto">
          <a:xfrm>
            <a:off x="2008184" y="1351748"/>
            <a:ext cx="1152128" cy="2883314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Measurement</a:t>
            </a:r>
          </a:p>
          <a:p>
            <a:pPr algn="ctr" eaLnBrk="1" hangingPunct="1"/>
            <a:r>
              <a:rPr lang="en-US" altLang="zh-CN" sz="1100" dirty="0"/>
              <a:t>time stamp</a:t>
            </a:r>
          </a:p>
          <a:p>
            <a:pPr algn="ctr" eaLnBrk="1" hangingPunct="1"/>
            <a:r>
              <a:rPr lang="en-US" altLang="zh-CN" sz="1100" dirty="0"/>
              <a:t>management</a:t>
            </a:r>
            <a:endParaRPr lang="zh-CN" altLang="en-US" sz="700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0EBECE9-7BA4-4CBB-B7C7-CB4BC529F496}"/>
              </a:ext>
            </a:extLst>
          </p:cNvPr>
          <p:cNvSpPr/>
          <p:nvPr/>
        </p:nvSpPr>
        <p:spPr bwMode="auto">
          <a:xfrm>
            <a:off x="3531363" y="3078187"/>
            <a:ext cx="997101" cy="115512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Association</a:t>
            </a:r>
            <a:endParaRPr lang="zh-CN" altLang="en-US" sz="70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E7DFC8B-F62C-49A9-B766-DF638EE2DE8B}"/>
              </a:ext>
            </a:extLst>
          </p:cNvPr>
          <p:cNvSpPr/>
          <p:nvPr/>
        </p:nvSpPr>
        <p:spPr bwMode="auto">
          <a:xfrm>
            <a:off x="4901107" y="3078187"/>
            <a:ext cx="991228" cy="115512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State update</a:t>
            </a:r>
            <a:endParaRPr lang="zh-CN" altLang="en-US" sz="70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B8665D8-E1B4-4311-87C9-EB6E7B7FECDA}"/>
              </a:ext>
            </a:extLst>
          </p:cNvPr>
          <p:cNvSpPr/>
          <p:nvPr/>
        </p:nvSpPr>
        <p:spPr bwMode="auto">
          <a:xfrm>
            <a:off x="6266704" y="1349995"/>
            <a:ext cx="740417" cy="2883314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Book</a:t>
            </a:r>
          </a:p>
          <a:p>
            <a:pPr algn="ctr" eaLnBrk="1" hangingPunct="1"/>
            <a:r>
              <a:rPr lang="en-US" altLang="zh-CN" sz="1100" dirty="0"/>
              <a:t>Keeping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AA48DE7-66AC-4A9D-A404-9AA6B3332871}"/>
              </a:ext>
            </a:extLst>
          </p:cNvPr>
          <p:cNvSpPr/>
          <p:nvPr/>
        </p:nvSpPr>
        <p:spPr bwMode="auto">
          <a:xfrm>
            <a:off x="3531363" y="1349995"/>
            <a:ext cx="2360972" cy="1188132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200" dirty="0"/>
              <a:t>Track management</a:t>
            </a:r>
          </a:p>
          <a:p>
            <a:pPr algn="ctr" eaLnBrk="1" hangingPunct="1"/>
            <a:r>
              <a:rPr lang="en-US" altLang="zh-CN" sz="1200" dirty="0"/>
              <a:t>(Track </a:t>
            </a:r>
            <a:r>
              <a:rPr lang="en-US" altLang="zh-CN" sz="1200" dirty="0" err="1"/>
              <a:t>init.</a:t>
            </a:r>
            <a:r>
              <a:rPr lang="en-US" altLang="zh-CN" sz="1200" dirty="0"/>
              <a:t> included)</a:t>
            </a:r>
            <a:endParaRPr lang="zh-CN" altLang="en-US" sz="800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0FBE1FD-A4F7-4C7F-B800-BE4F5FE2FED4}"/>
              </a:ext>
            </a:extLst>
          </p:cNvPr>
          <p:cNvSpPr/>
          <p:nvPr/>
        </p:nvSpPr>
        <p:spPr bwMode="auto">
          <a:xfrm>
            <a:off x="7398736" y="3006179"/>
            <a:ext cx="936104" cy="1227130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Barrier</a:t>
            </a:r>
          </a:p>
          <a:p>
            <a:pPr algn="ctr" eaLnBrk="1" hangingPunct="1"/>
            <a:r>
              <a:rPr lang="en-US" altLang="zh-CN" sz="1100" dirty="0"/>
              <a:t>estimation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9D834F6-160E-435E-96BA-08B3F5D077AB}"/>
              </a:ext>
            </a:extLst>
          </p:cNvPr>
          <p:cNvSpPr/>
          <p:nvPr/>
        </p:nvSpPr>
        <p:spPr bwMode="auto">
          <a:xfrm>
            <a:off x="7398736" y="1349995"/>
            <a:ext cx="936104" cy="1227130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1100" dirty="0"/>
              <a:t>Confidence assessment</a:t>
            </a: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BA71D232-E97A-44F8-8EFA-8BEDA9AB0C55}"/>
              </a:ext>
            </a:extLst>
          </p:cNvPr>
          <p:cNvCxnSpPr>
            <a:cxnSpLocks/>
          </p:cNvCxnSpPr>
          <p:nvPr/>
        </p:nvCxnSpPr>
        <p:spPr bwMode="auto">
          <a:xfrm>
            <a:off x="395536" y="2718147"/>
            <a:ext cx="532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1B4DEAAE-966A-4E43-AC8E-48197F924AB4}"/>
              </a:ext>
            </a:extLst>
          </p:cNvPr>
          <p:cNvCxnSpPr>
            <a:cxnSpLocks/>
          </p:cNvCxnSpPr>
          <p:nvPr/>
        </p:nvCxnSpPr>
        <p:spPr bwMode="auto">
          <a:xfrm>
            <a:off x="395536" y="3654251"/>
            <a:ext cx="532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5F179419-85C2-4966-9EBF-68BC62BDE9DF}"/>
              </a:ext>
            </a:extLst>
          </p:cNvPr>
          <p:cNvCxnSpPr>
            <a:cxnSpLocks/>
          </p:cNvCxnSpPr>
          <p:nvPr/>
        </p:nvCxnSpPr>
        <p:spPr bwMode="auto">
          <a:xfrm>
            <a:off x="467544" y="1805491"/>
            <a:ext cx="1530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C5D43F42-5E1D-412F-A1D0-34238C102563}"/>
              </a:ext>
            </a:extLst>
          </p:cNvPr>
          <p:cNvCxnSpPr/>
          <p:nvPr/>
        </p:nvCxnSpPr>
        <p:spPr bwMode="auto">
          <a:xfrm>
            <a:off x="1614656" y="3150195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7E57DA10-9C1E-4A37-B09A-C47E56C25149}"/>
              </a:ext>
            </a:extLst>
          </p:cNvPr>
          <p:cNvCxnSpPr>
            <a:cxnSpLocks/>
          </p:cNvCxnSpPr>
          <p:nvPr/>
        </p:nvCxnSpPr>
        <p:spPr bwMode="auto">
          <a:xfrm>
            <a:off x="3160312" y="1926059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D44F9E1E-8DB2-4B9D-8DBB-7DE92E08A879}"/>
              </a:ext>
            </a:extLst>
          </p:cNvPr>
          <p:cNvCxnSpPr>
            <a:cxnSpLocks/>
          </p:cNvCxnSpPr>
          <p:nvPr/>
        </p:nvCxnSpPr>
        <p:spPr bwMode="auto">
          <a:xfrm>
            <a:off x="3160312" y="3642653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40B6FD4F-2C77-4671-BA94-498B80275E7D}"/>
              </a:ext>
            </a:extLst>
          </p:cNvPr>
          <p:cNvCxnSpPr>
            <a:cxnSpLocks/>
          </p:cNvCxnSpPr>
          <p:nvPr/>
        </p:nvCxnSpPr>
        <p:spPr bwMode="auto">
          <a:xfrm>
            <a:off x="4530056" y="3654251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F4A517FF-8F7D-40CB-A9B8-8058FACDDC8C}"/>
              </a:ext>
            </a:extLst>
          </p:cNvPr>
          <p:cNvCxnSpPr>
            <a:cxnSpLocks/>
          </p:cNvCxnSpPr>
          <p:nvPr/>
        </p:nvCxnSpPr>
        <p:spPr bwMode="auto">
          <a:xfrm>
            <a:off x="5892335" y="1937908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36076E4C-4FCD-42DF-97E8-3356ACBC1278}"/>
              </a:ext>
            </a:extLst>
          </p:cNvPr>
          <p:cNvCxnSpPr>
            <a:cxnSpLocks/>
          </p:cNvCxnSpPr>
          <p:nvPr/>
        </p:nvCxnSpPr>
        <p:spPr bwMode="auto">
          <a:xfrm>
            <a:off x="7016667" y="1942993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0BE59866-F58B-4FD3-9FCC-EB5A43D21E1E}"/>
              </a:ext>
            </a:extLst>
          </p:cNvPr>
          <p:cNvCxnSpPr>
            <a:cxnSpLocks/>
          </p:cNvCxnSpPr>
          <p:nvPr/>
        </p:nvCxnSpPr>
        <p:spPr bwMode="auto">
          <a:xfrm>
            <a:off x="7021691" y="3677701"/>
            <a:ext cx="37105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33F4EE9A-E4DB-4649-A798-E4FD15F3EB14}"/>
              </a:ext>
            </a:extLst>
          </p:cNvPr>
          <p:cNvCxnSpPr>
            <a:cxnSpLocks/>
            <a:stCxn id="78" idx="0"/>
          </p:cNvCxnSpPr>
          <p:nvPr/>
        </p:nvCxnSpPr>
        <p:spPr bwMode="auto">
          <a:xfrm flipV="1">
            <a:off x="5396721" y="2538127"/>
            <a:ext cx="0" cy="540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5E891B06-BF06-4460-A043-AF99B8124ABB}"/>
              </a:ext>
            </a:extLst>
          </p:cNvPr>
          <p:cNvCxnSpPr>
            <a:cxnSpLocks/>
            <a:endCxn id="76" idx="0"/>
          </p:cNvCxnSpPr>
          <p:nvPr/>
        </p:nvCxnSpPr>
        <p:spPr bwMode="auto">
          <a:xfrm>
            <a:off x="4029914" y="2538127"/>
            <a:ext cx="0" cy="540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BC64E6FB-3957-4C6D-9634-522DED344DA9}"/>
              </a:ext>
            </a:extLst>
          </p:cNvPr>
          <p:cNvCxnSpPr/>
          <p:nvPr/>
        </p:nvCxnSpPr>
        <p:spPr bwMode="auto">
          <a:xfrm>
            <a:off x="8334840" y="1963560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2FD92314-C8BD-41DB-A88D-F350123CF99C}"/>
              </a:ext>
            </a:extLst>
          </p:cNvPr>
          <p:cNvCxnSpPr/>
          <p:nvPr/>
        </p:nvCxnSpPr>
        <p:spPr bwMode="auto">
          <a:xfrm>
            <a:off x="8339864" y="3677701"/>
            <a:ext cx="3935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68B6CBB-1438-4557-B881-611449D09EBC}"/>
              </a:ext>
            </a:extLst>
          </p:cNvPr>
          <p:cNvSpPr txBox="1"/>
          <p:nvPr/>
        </p:nvSpPr>
        <p:spPr>
          <a:xfrm>
            <a:off x="315101" y="1543881"/>
            <a:ext cx="944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Ego Motion</a:t>
            </a:r>
            <a:endParaRPr lang="zh-CN" altLang="en-US" sz="11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72A6E25C-7DEE-4A99-926B-C68CA91B2344}"/>
              </a:ext>
            </a:extLst>
          </p:cNvPr>
          <p:cNvSpPr txBox="1"/>
          <p:nvPr/>
        </p:nvSpPr>
        <p:spPr>
          <a:xfrm>
            <a:off x="220690" y="2502703"/>
            <a:ext cx="9445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Vision Detection</a:t>
            </a:r>
            <a:endParaRPr lang="zh-CN" altLang="en-US" sz="11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96F8699-D7CC-4083-BA4B-0F0B385DBB97}"/>
              </a:ext>
            </a:extLst>
          </p:cNvPr>
          <p:cNvSpPr txBox="1"/>
          <p:nvPr/>
        </p:nvSpPr>
        <p:spPr>
          <a:xfrm>
            <a:off x="217955" y="3438227"/>
            <a:ext cx="9445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Radar Detection</a:t>
            </a:r>
            <a:endParaRPr lang="zh-CN" altLang="en-US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873D20-039F-4A14-8941-F8BD9F2A07F3}"/>
              </a:ext>
            </a:extLst>
          </p:cNvPr>
          <p:cNvSpPr/>
          <p:nvPr/>
        </p:nvSpPr>
        <p:spPr bwMode="auto">
          <a:xfrm>
            <a:off x="7287853" y="2908740"/>
            <a:ext cx="1178499" cy="1467826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3906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323528" y="557907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2400" dirty="0"/>
              <a:t>Barrier Estimation</a:t>
            </a:r>
            <a:endParaRPr lang="zh-CN" altLang="en-US" sz="8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B3A4B1-DC1D-426F-AE3A-C4F0FAB3D8B6}"/>
              </a:ext>
            </a:extLst>
          </p:cNvPr>
          <p:cNvSpPr/>
          <p:nvPr/>
        </p:nvSpPr>
        <p:spPr>
          <a:xfrm>
            <a:off x="677684" y="1032301"/>
            <a:ext cx="5417182" cy="17736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Selection stationary radar tracks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Initialize a 3rd order polynomial bases on stationary radar tracks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Updating the polynomial coefficients based on least squares or Kalman Filter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981911" y="134547"/>
                <a:ext cx="322885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911" y="134547"/>
                <a:ext cx="3228850" cy="276999"/>
              </a:xfrm>
              <a:prstGeom prst="rect">
                <a:avLst/>
              </a:prstGeom>
              <a:blipFill>
                <a:blip r:embed="rId2"/>
                <a:stretch>
                  <a:fillRect t="-2174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8" descr="blue_car">
            <a:extLst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3006179"/>
            <a:ext cx="813672" cy="1764222"/>
          </a:xfrm>
          <a:prstGeom prst="rect">
            <a:avLst/>
          </a:prstGeom>
          <a:noFill/>
          <a:ln>
            <a:noFill/>
          </a:ln>
          <a:extLst/>
        </p:spPr>
      </p:pic>
      <p:sp>
        <p:nvSpPr>
          <p:cNvPr id="14" name="文本框 10">
            <a:extLst/>
          </p:cNvPr>
          <p:cNvSpPr txBox="1"/>
          <p:nvPr/>
        </p:nvSpPr>
        <p:spPr>
          <a:xfrm>
            <a:off x="6591882" y="4740241"/>
            <a:ext cx="313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X</a:t>
            </a:r>
            <a:endParaRPr lang="zh-CN" altLang="en-US" sz="1200" dirty="0"/>
          </a:p>
        </p:txBody>
      </p:sp>
      <p:sp>
        <p:nvSpPr>
          <p:cNvPr id="15" name="文本框 45">
            <a:extLst/>
          </p:cNvPr>
          <p:cNvSpPr txBox="1"/>
          <p:nvPr/>
        </p:nvSpPr>
        <p:spPr>
          <a:xfrm>
            <a:off x="8336290" y="3726259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Y</a:t>
            </a:r>
            <a:endParaRPr lang="zh-CN" altLang="en-US" sz="1200" dirty="0"/>
          </a:p>
        </p:txBody>
      </p:sp>
      <p:sp>
        <p:nvSpPr>
          <p:cNvPr id="16" name="Oval 18">
            <a:extLst/>
          </p:cNvPr>
          <p:cNvSpPr/>
          <p:nvPr/>
        </p:nvSpPr>
        <p:spPr>
          <a:xfrm>
            <a:off x="7929348" y="4554924"/>
            <a:ext cx="204719" cy="204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cxnSp>
        <p:nvCxnSpPr>
          <p:cNvPr id="17" name="直接箭头连接符 35">
            <a:extLst/>
          </p:cNvPr>
          <p:cNvCxnSpPr>
            <a:cxnSpLocks/>
          </p:cNvCxnSpPr>
          <p:nvPr/>
        </p:nvCxnSpPr>
        <p:spPr bwMode="auto">
          <a:xfrm flipH="1" flipV="1">
            <a:off x="6800293" y="4674022"/>
            <a:ext cx="1239336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直接箭头连接符 36">
            <a:extLst/>
          </p:cNvPr>
          <p:cNvCxnSpPr>
            <a:cxnSpLocks/>
          </p:cNvCxnSpPr>
          <p:nvPr/>
        </p:nvCxnSpPr>
        <p:spPr bwMode="auto">
          <a:xfrm flipV="1">
            <a:off x="8035650" y="3793280"/>
            <a:ext cx="0" cy="8807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Oval 18">
            <a:extLst/>
          </p:cNvPr>
          <p:cNvSpPr/>
          <p:nvPr/>
        </p:nvSpPr>
        <p:spPr>
          <a:xfrm>
            <a:off x="6288970" y="2364450"/>
            <a:ext cx="72009" cy="720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tx1"/>
              </a:solidFill>
            </a:endParaRPr>
          </a:p>
        </p:txBody>
      </p:sp>
      <p:sp>
        <p:nvSpPr>
          <p:cNvPr id="26" name="Oval 18">
            <a:extLst/>
          </p:cNvPr>
          <p:cNvSpPr/>
          <p:nvPr/>
        </p:nvSpPr>
        <p:spPr>
          <a:xfrm>
            <a:off x="6490991" y="2940514"/>
            <a:ext cx="72009" cy="720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tx1"/>
              </a:solidFill>
            </a:endParaRPr>
          </a:p>
        </p:txBody>
      </p:sp>
      <p:sp>
        <p:nvSpPr>
          <p:cNvPr id="27" name="Oval 18">
            <a:extLst/>
          </p:cNvPr>
          <p:cNvSpPr/>
          <p:nvPr/>
        </p:nvSpPr>
        <p:spPr>
          <a:xfrm>
            <a:off x="6570184" y="1282449"/>
            <a:ext cx="72009" cy="720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tx1"/>
              </a:solidFill>
            </a:endParaRPr>
          </a:p>
        </p:txBody>
      </p:sp>
      <p:sp>
        <p:nvSpPr>
          <p:cNvPr id="28" name="Oval 18">
            <a:extLst/>
          </p:cNvPr>
          <p:cNvSpPr/>
          <p:nvPr/>
        </p:nvSpPr>
        <p:spPr>
          <a:xfrm>
            <a:off x="6681954" y="1860395"/>
            <a:ext cx="72009" cy="720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tx1"/>
              </a:solidFill>
            </a:endParaRPr>
          </a:p>
        </p:txBody>
      </p:sp>
      <p:sp>
        <p:nvSpPr>
          <p:cNvPr id="29" name="Oval 18">
            <a:extLst/>
          </p:cNvPr>
          <p:cNvSpPr/>
          <p:nvPr/>
        </p:nvSpPr>
        <p:spPr>
          <a:xfrm>
            <a:off x="6586769" y="960294"/>
            <a:ext cx="72009" cy="720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tx1"/>
              </a:solidFill>
            </a:endParaRPr>
          </a:p>
        </p:txBody>
      </p:sp>
      <p:sp>
        <p:nvSpPr>
          <p:cNvPr id="30" name="Oval 18">
            <a:extLst/>
          </p:cNvPr>
          <p:cNvSpPr/>
          <p:nvPr/>
        </p:nvSpPr>
        <p:spPr>
          <a:xfrm>
            <a:off x="6474291" y="726423"/>
            <a:ext cx="72009" cy="720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tx1"/>
              </a:solidFill>
            </a:endParaRPr>
          </a:p>
        </p:txBody>
      </p:sp>
      <p:sp>
        <p:nvSpPr>
          <p:cNvPr id="31" name="Oval 18">
            <a:extLst/>
          </p:cNvPr>
          <p:cNvSpPr/>
          <p:nvPr/>
        </p:nvSpPr>
        <p:spPr>
          <a:xfrm>
            <a:off x="6633203" y="2148426"/>
            <a:ext cx="72009" cy="720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tx1"/>
              </a:solidFill>
            </a:endParaRPr>
          </a:p>
        </p:txBody>
      </p:sp>
      <p:sp>
        <p:nvSpPr>
          <p:cNvPr id="32" name="Oval 18">
            <a:extLst/>
          </p:cNvPr>
          <p:cNvSpPr/>
          <p:nvPr/>
        </p:nvSpPr>
        <p:spPr>
          <a:xfrm>
            <a:off x="6534180" y="1634043"/>
            <a:ext cx="72009" cy="720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tx1"/>
              </a:solidFill>
            </a:endParaRPr>
          </a:p>
        </p:txBody>
      </p:sp>
      <p:sp>
        <p:nvSpPr>
          <p:cNvPr id="37" name="Freeform: Shape 36"/>
          <p:cNvSpPr/>
          <p:nvPr/>
        </p:nvSpPr>
        <p:spPr bwMode="auto">
          <a:xfrm>
            <a:off x="6510451" y="773931"/>
            <a:ext cx="289842" cy="2742647"/>
          </a:xfrm>
          <a:custGeom>
            <a:avLst/>
            <a:gdLst>
              <a:gd name="connsiteX0" fmla="*/ 125489 w 488148"/>
              <a:gd name="connsiteY0" fmla="*/ 4471329 h 4471329"/>
              <a:gd name="connsiteX1" fmla="*/ 486996 w 488148"/>
              <a:gd name="connsiteY1" fmla="*/ 3280483 h 4471329"/>
              <a:gd name="connsiteX2" fmla="*/ 19164 w 488148"/>
              <a:gd name="connsiteY2" fmla="*/ 1239032 h 4471329"/>
              <a:gd name="connsiteX3" fmla="*/ 93592 w 488148"/>
              <a:gd name="connsiteY3" fmla="*/ 111980 h 4471329"/>
              <a:gd name="connsiteX4" fmla="*/ 125489 w 488148"/>
              <a:gd name="connsiteY4" fmla="*/ 101348 h 4471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148" h="4471329">
                <a:moveTo>
                  <a:pt x="125489" y="4471329"/>
                </a:moveTo>
                <a:cubicBezTo>
                  <a:pt x="315103" y="4145264"/>
                  <a:pt x="504717" y="3819199"/>
                  <a:pt x="486996" y="3280483"/>
                </a:cubicBezTo>
                <a:cubicBezTo>
                  <a:pt x="469275" y="2741767"/>
                  <a:pt x="84731" y="1767116"/>
                  <a:pt x="19164" y="1239032"/>
                </a:cubicBezTo>
                <a:cubicBezTo>
                  <a:pt x="-46403" y="710948"/>
                  <a:pt x="75871" y="301594"/>
                  <a:pt x="93592" y="111980"/>
                </a:cubicBezTo>
                <a:cubicBezTo>
                  <a:pt x="111313" y="-77634"/>
                  <a:pt x="118401" y="11857"/>
                  <a:pt x="125489" y="101348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9" name="文本框 154">
            <a:extLst/>
          </p:cNvPr>
          <p:cNvSpPr txBox="1"/>
          <p:nvPr/>
        </p:nvSpPr>
        <p:spPr>
          <a:xfrm>
            <a:off x="323528" y="2388452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2400" dirty="0"/>
              <a:t>Input</a:t>
            </a:r>
            <a:endParaRPr lang="zh-CN" altLang="en-US" sz="800" dirty="0"/>
          </a:p>
        </p:txBody>
      </p:sp>
      <p:sp>
        <p:nvSpPr>
          <p:cNvPr id="41" name="矩形 1">
            <a:extLst/>
          </p:cNvPr>
          <p:cNvSpPr/>
          <p:nvPr/>
        </p:nvSpPr>
        <p:spPr>
          <a:xfrm>
            <a:off x="713844" y="2781233"/>
            <a:ext cx="5417182" cy="1277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Radar detections (of current scan) structure</a:t>
            </a:r>
          </a:p>
          <a:p>
            <a:pPr marL="342900" lvl="0" indent="-342900">
              <a:lnSpc>
                <a:spcPct val="107000"/>
              </a:lnSpc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Barrier structure of previous results</a:t>
            </a:r>
          </a:p>
          <a:p>
            <a:pPr marL="342900" lvl="0" indent="-342900">
              <a:lnSpc>
                <a:spcPct val="107000"/>
              </a:lnSpc>
              <a:buAutoNum type="arabicPeriod"/>
            </a:pPr>
            <a:r>
              <a:rPr lang="en-US" altLang="zh-CN" dirty="0" err="1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Cals</a:t>
            </a:r>
            <a:endParaRPr lang="en-US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Vehicle delta motion</a:t>
            </a:r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2" name="文本框 154">
            <a:extLst/>
          </p:cNvPr>
          <p:cNvSpPr txBox="1"/>
          <p:nvPr/>
        </p:nvSpPr>
        <p:spPr>
          <a:xfrm>
            <a:off x="392973" y="3985566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2400" dirty="0"/>
              <a:t>Output</a:t>
            </a:r>
            <a:endParaRPr lang="zh-CN" altLang="en-US" sz="800" dirty="0"/>
          </a:p>
        </p:txBody>
      </p:sp>
      <p:sp>
        <p:nvSpPr>
          <p:cNvPr id="43" name="矩形 1">
            <a:extLst/>
          </p:cNvPr>
          <p:cNvSpPr/>
          <p:nvPr/>
        </p:nvSpPr>
        <p:spPr>
          <a:xfrm>
            <a:off x="783289" y="4447231"/>
            <a:ext cx="5417182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Barrier structure of current results</a:t>
            </a:r>
          </a:p>
        </p:txBody>
      </p:sp>
    </p:spTree>
    <p:extLst>
      <p:ext uri="{BB962C8B-B14F-4D97-AF65-F5344CB8AC3E}">
        <p14:creationId xmlns:p14="http://schemas.microsoft.com/office/powerpoint/2010/main" val="14766450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154">
            <a:extLst>
              <a:ext uri="{FF2B5EF4-FFF2-40B4-BE49-F238E27FC236}">
                <a16:creationId xmlns:a16="http://schemas.microsoft.com/office/drawing/2014/main" id="{4666304B-2C72-4C39-B6B8-A895B7FE8157}"/>
              </a:ext>
            </a:extLst>
          </p:cNvPr>
          <p:cNvSpPr txBox="1"/>
          <p:nvPr/>
        </p:nvSpPr>
        <p:spPr>
          <a:xfrm>
            <a:off x="1907704" y="0"/>
            <a:ext cx="4883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2400" dirty="0"/>
              <a:t>Fusion system variables</a:t>
            </a:r>
            <a:endParaRPr lang="zh-CN" altLang="en-US" sz="8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B3A4B1-DC1D-426F-AE3A-C4F0FAB3D8B6}"/>
              </a:ext>
            </a:extLst>
          </p:cNvPr>
          <p:cNvSpPr/>
          <p:nvPr/>
        </p:nvSpPr>
        <p:spPr>
          <a:xfrm>
            <a:off x="467544" y="614443"/>
            <a:ext cx="828680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Fusion object structure (array)</a:t>
            </a:r>
          </a:p>
          <a:p>
            <a:pPr marL="705871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Object ID, status, motion status,…</a:t>
            </a:r>
          </a:p>
          <a:p>
            <a:pPr marL="705871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Position, velocity, acceleration,…</a:t>
            </a:r>
          </a:p>
          <a:p>
            <a:pPr marL="705871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Size, associated radar/vision tracks,…</a:t>
            </a:r>
          </a:p>
          <a:p>
            <a:pPr marL="705871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Any information about each fusion object should go here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Barrier structure: polynomial coefficients, confidence, max range, etc.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Fusion system structure:</a:t>
            </a:r>
          </a:p>
          <a:p>
            <a:pPr marL="705871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Current/previous cycle timestamp, delta T</a:t>
            </a:r>
          </a:p>
          <a:p>
            <a:pPr marL="705871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Number of active tracks,</a:t>
            </a:r>
          </a:p>
          <a:p>
            <a:pPr marL="705871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Alive ID list, available ID list</a:t>
            </a:r>
          </a:p>
          <a:p>
            <a:pPr marL="705871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Any information about fusion system property should go here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System </a:t>
            </a:r>
            <a:r>
              <a:rPr lang="en-US" altLang="zh-CN" dirty="0" err="1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Cals</a:t>
            </a: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/Parameter structure</a:t>
            </a:r>
          </a:p>
          <a:p>
            <a:pPr marL="705871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Max number of objects.</a:t>
            </a:r>
          </a:p>
          <a:p>
            <a:pPr marL="705871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All kinds of thresholds</a:t>
            </a:r>
          </a:p>
          <a:p>
            <a:pPr marL="705871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Any constant, parameters should go here</a:t>
            </a:r>
          </a:p>
          <a:p>
            <a:pPr lvl="1"/>
            <a:endParaRPr lang="zh-CN" altLang="zh-CN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93859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43951</TotalTime>
  <Words>1408</Words>
  <Application>Microsoft Office PowerPoint</Application>
  <PresentationFormat>Custom</PresentationFormat>
  <Paragraphs>468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Adobe 楷体 Std R</vt:lpstr>
      <vt:lpstr>宋体</vt:lpstr>
      <vt:lpstr>微软雅黑</vt:lpstr>
      <vt:lpstr>等线</vt:lpstr>
      <vt:lpstr>Arial</vt:lpstr>
      <vt:lpstr>Calibri</vt:lpstr>
      <vt:lpstr>Cambria Math</vt:lpstr>
      <vt:lpstr>Ebrima</vt:lpstr>
      <vt:lpstr>Times New Roman</vt:lpstr>
      <vt:lpstr>Wingdings</vt:lpstr>
      <vt:lpstr>1_Office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陈京帅</dc:creator>
  <cp:lastModifiedBy>Yu Liu</cp:lastModifiedBy>
  <cp:revision>1949</cp:revision>
  <cp:lastPrinted>2017-08-01T11:09:34Z</cp:lastPrinted>
  <dcterms:modified xsi:type="dcterms:W3CDTF">2017-09-28T07:57:20Z</dcterms:modified>
</cp:coreProperties>
</file>